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23.xml" ContentType="application/vnd.openxmlformats-officedocument.presentationml.slide+xml"/>
  <Override PartName="/ppt/slides/slide35.xml" ContentType="application/vnd.openxmlformats-officedocument.presentationml.slide+xml"/>
  <Override PartName="/ppt/slides/slide24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36.xml" ContentType="application/vnd.openxmlformats-officedocument.presentationml.slide+xml"/>
  <Override PartName="/ppt/slides/slide25.xml" ContentType="application/vnd.openxmlformats-officedocument.presentationml.slide+xml"/>
  <Override PartName="/ppt/slides/slide37.xml" ContentType="application/vnd.openxmlformats-officedocument.presentationml.slide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17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8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27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36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3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7.xml.rels" ContentType="application/vnd.openxmlformats-package.relationships+xml"/>
  <Override PartName="/ppt/slides/_rels/slide2.xml.rels" ContentType="application/vnd.openxmlformats-package.relationships+xml"/>
  <Override PartName="/ppt/slides/_rels/slide38.xml.rels" ContentType="application/vnd.openxmlformats-package.relationships+xml"/>
  <Override PartName="/ppt/slides/_rels/slide39.xml.rels" ContentType="application/vnd.openxmlformats-package.relationships+xml"/>
  <Override PartName="/ppt/slides/_rels/slide13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1.xml.rels" ContentType="application/vnd.openxmlformats-package.relationships+xml"/>
  <Override PartName="/ppt/slides/_rels/slide12.xml.rels" ContentType="application/vnd.openxmlformats-package.relationships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F2DB7F-E6D3-4EBA-AC57-5D03B12926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9B9D6E-B7E0-4F45-8178-9C3A3200B9C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8093003-29A5-4535-A50D-0F1C9C9C39DA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468000" y="522000"/>
            <a:ext cx="2160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700" spc="-1" strike="noStrike">
                <a:solidFill>
                  <a:srgbClr val="8fd3ff"/>
                </a:solidFill>
                <a:latin typeface="Noto Sans Mono CJK SC"/>
              </a:rPr>
              <a:t>RDMA / QPC</a:t>
            </a:r>
            <a:endParaRPr b="1" lang="en-US" sz="1700" spc="-1" strike="noStrike">
              <a:solidFill>
                <a:srgbClr val="8fd3ff"/>
              </a:solidFill>
              <a:latin typeface="Noto Sans Mono CJK SC"/>
            </a:endParaRPr>
          </a:p>
        </p:txBody>
      </p:sp>
      <p:sp>
        <p:nvSpPr>
          <p:cNvPr id="11" name=""/>
          <p:cNvSpPr/>
          <p:nvPr/>
        </p:nvSpPr>
        <p:spPr>
          <a:xfrm>
            <a:off x="468000" y="918000"/>
            <a:ext cx="10080000" cy="900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3400" spc="-1" strike="noStrike">
                <a:solidFill>
                  <a:srgbClr val="ffffff"/>
                </a:solidFill>
                <a:latin typeface="Noto Sans CJK SC"/>
              </a:rPr>
              <a:t>从 </a:t>
            </a:r>
            <a:r>
              <a:rPr b="1" lang="en-US" sz="3400" spc="-1" strike="noStrike">
                <a:solidFill>
                  <a:srgbClr val="ffffff"/>
                </a:solidFill>
                <a:latin typeface="Noto Sans CJK SC"/>
              </a:rPr>
              <a:t>QP </a:t>
            </a:r>
            <a:r>
              <a:rPr b="1" lang="zh-CN" sz="3400" spc="-1" strike="noStrike">
                <a:solidFill>
                  <a:srgbClr val="ffffff"/>
                </a:solidFill>
                <a:latin typeface="Noto Sans CJK SC"/>
              </a:rPr>
              <a:t>创建到报文发送</a:t>
            </a:r>
            <a:endParaRPr b="1" lang="en-US" sz="3400" spc="-1" strike="noStrike">
              <a:solidFill>
                <a:srgbClr val="ffffff"/>
              </a:solidFill>
              <a:latin typeface="Noto Sans CJK SC"/>
            </a:endParaRPr>
          </a:p>
          <a:p>
            <a:r>
              <a:rPr b="1" lang="en-US" sz="3400" spc="-1" strike="noStrike">
                <a:solidFill>
                  <a:srgbClr val="ffffff"/>
                </a:solidFill>
                <a:latin typeface="Noto Sans CJK SC"/>
              </a:rPr>
              <a:t>QPC </a:t>
            </a:r>
            <a:r>
              <a:rPr b="1" lang="zh-CN" sz="3400" spc="-1" strike="noStrike">
                <a:solidFill>
                  <a:srgbClr val="ffffff"/>
                </a:solidFill>
                <a:latin typeface="Noto Sans CJK SC"/>
              </a:rPr>
              <a:t>生命周期与数据路径手册</a:t>
            </a:r>
            <a:endParaRPr b="1" lang="en-US" sz="34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2" name=""/>
          <p:cNvSpPr/>
          <p:nvPr/>
        </p:nvSpPr>
        <p:spPr>
          <a:xfrm>
            <a:off x="468000" y="2034000"/>
            <a:ext cx="9000000" cy="450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800" spc="-1" strike="noStrike">
                <a:solidFill>
                  <a:srgbClr val="d9e2ec"/>
                </a:solidFill>
                <a:latin typeface="Noto Sans CJK SC"/>
              </a:rPr>
              <a:t>面向代码审查、环境搭建、真实 </a:t>
            </a:r>
            <a:r>
              <a:rPr b="0" lang="en-US" sz="1800" spc="-1" strike="noStrike">
                <a:solidFill>
                  <a:srgbClr val="d9e2ec"/>
                </a:solidFill>
                <a:latin typeface="Noto Sans CJK SC"/>
              </a:rPr>
              <a:t>DUT </a:t>
            </a:r>
            <a:r>
              <a:rPr b="0" lang="zh-CN" sz="1800" spc="-1" strike="noStrike">
                <a:solidFill>
                  <a:srgbClr val="d9e2ec"/>
                </a:solidFill>
                <a:latin typeface="Noto Sans CJK SC"/>
              </a:rPr>
              <a:t>对接和 </a:t>
            </a:r>
            <a:r>
              <a:rPr b="0" lang="en-US" sz="1800" spc="-1" strike="noStrike">
                <a:solidFill>
                  <a:srgbClr val="d9e2ec"/>
                </a:solidFill>
                <a:latin typeface="Noto Sans CJK SC"/>
              </a:rPr>
              <a:t>QPC </a:t>
            </a:r>
            <a:r>
              <a:rPr b="0" lang="zh-CN" sz="1800" spc="-1" strike="noStrike">
                <a:solidFill>
                  <a:srgbClr val="d9e2ec"/>
                </a:solidFill>
                <a:latin typeface="Noto Sans CJK SC"/>
              </a:rPr>
              <a:t>字段验证</a:t>
            </a:r>
            <a:endParaRPr b="0" lang="en-US" sz="1800" spc="-1" strike="noStrike">
              <a:solidFill>
                <a:srgbClr val="d9e2ec"/>
              </a:solidFill>
              <a:latin typeface="Noto Sans CJK SC"/>
            </a:endParaRPr>
          </a:p>
          <a:p>
            <a:r>
              <a:rPr b="0" lang="zh-CN" sz="1800" spc="-1" strike="noStrike">
                <a:solidFill>
                  <a:srgbClr val="d9e2ec"/>
                </a:solidFill>
                <a:latin typeface="Noto Sans CJK SC"/>
              </a:rPr>
              <a:t>覆盖 </a:t>
            </a:r>
            <a:r>
              <a:rPr b="0" lang="en-US" sz="1800" spc="-1" strike="noStrike">
                <a:solidFill>
                  <a:srgbClr val="d9e2ec"/>
                </a:solidFill>
                <a:latin typeface="Noto Sans CJK SC"/>
              </a:rPr>
              <a:t>QPN / SQ / RQ / SGB / ORQ / EIRQ / UAQ / HMC / QPC / CQE</a:t>
            </a:r>
            <a:endParaRPr b="0" lang="en-US" sz="1800" spc="-1" strike="noStrike">
              <a:solidFill>
                <a:srgbClr val="d9e2ec"/>
              </a:solidFill>
              <a:latin typeface="Noto Sans CJK SC"/>
            </a:endParaRPr>
          </a:p>
        </p:txBody>
      </p:sp>
      <p:sp>
        <p:nvSpPr>
          <p:cNvPr id="13" name=""/>
          <p:cNvSpPr/>
          <p:nvPr/>
        </p:nvSpPr>
        <p:spPr>
          <a:xfrm>
            <a:off x="468000" y="5508000"/>
            <a:ext cx="7200000" cy="234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9fb3c8"/>
                </a:solidFill>
                <a:latin typeface="Noto Sans CJK SC"/>
              </a:rPr>
              <a:t>代码基线：</a:t>
            </a:r>
            <a:r>
              <a:rPr b="0" lang="en-US" sz="1200" spc="-1" strike="noStrike">
                <a:solidFill>
                  <a:srgbClr val="9fb3c8"/>
                </a:solidFill>
                <a:latin typeface="Noto Sans CJK SC"/>
              </a:rPr>
              <a:t>feature/rdma-arch-slim  ·  </a:t>
            </a:r>
            <a:r>
              <a:rPr b="0" lang="zh-CN" sz="1200" spc="-1" strike="noStrike">
                <a:solidFill>
                  <a:srgbClr val="9fb3c8"/>
                </a:solidFill>
                <a:latin typeface="Noto Sans CJK SC"/>
              </a:rPr>
              <a:t>以当前 </a:t>
            </a:r>
            <a:r>
              <a:rPr b="0" lang="en-US" sz="1200" spc="-1" strike="noStrike">
                <a:solidFill>
                  <a:srgbClr val="9fb3c8"/>
                </a:solidFill>
                <a:latin typeface="Noto Sans CJK SC"/>
              </a:rPr>
              <a:t>driver/dev/tb </a:t>
            </a:r>
            <a:r>
              <a:rPr b="0" lang="zh-CN" sz="1200" spc="-1" strike="noStrike">
                <a:solidFill>
                  <a:srgbClr val="9fb3c8"/>
                </a:solidFill>
                <a:latin typeface="Noto Sans CJK SC"/>
              </a:rPr>
              <a:t>实现为准</a:t>
            </a:r>
            <a:endParaRPr b="0" lang="en-US" sz="12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14" name=""/>
          <p:cNvSpPr/>
          <p:nvPr/>
        </p:nvSpPr>
        <p:spPr>
          <a:xfrm>
            <a:off x="10440000" y="5418000"/>
            <a:ext cx="1044000" cy="324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000" spc="-1" strike="noStrike">
                <a:solidFill>
                  <a:srgbClr val="ffffff"/>
                </a:solidFill>
                <a:latin typeface="Noto Sans Mono CJK SC"/>
              </a:rPr>
              <a:t>QPC</a:t>
            </a:r>
            <a:endParaRPr b="1" lang="en-US" sz="20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2000" spc="-1" strike="noStrike">
                <a:solidFill>
                  <a:srgbClr val="ffffff"/>
                </a:solidFill>
                <a:latin typeface="Noto Sans Mono CJK SC"/>
              </a:rPr>
              <a:t>512 B</a:t>
            </a:r>
            <a:endParaRPr b="1" lang="en-US" sz="2000" spc="-1" strike="noStrike">
              <a:solidFill>
                <a:srgbClr val="ffffff"/>
              </a:solidFill>
              <a:latin typeface="Noto Sans Mono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00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读图方法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17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如何阅读这份手册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8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19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01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20" name=""/>
          <p:cNvSpPr/>
          <p:nvPr/>
        </p:nvSpPr>
        <p:spPr>
          <a:xfrm>
            <a:off x="432000" y="738000"/>
            <a:ext cx="11304000" cy="846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432000" y="738000"/>
            <a:ext cx="11304000" cy="2016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状态驱动行为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2" name=""/>
          <p:cNvSpPr/>
          <p:nvPr/>
        </p:nvSpPr>
        <p:spPr>
          <a:xfrm>
            <a:off x="525600" y="997200"/>
            <a:ext cx="11116800" cy="522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600" spc="-1" strike="noStrike">
                <a:solidFill>
                  <a:srgbClr val="243b53"/>
                </a:solidFill>
                <a:latin typeface="Noto Sans CJK SC"/>
              </a:rPr>
              <a:t>本手册关注状态如何驱动行为，而不是只罗列 </a:t>
            </a:r>
            <a:r>
              <a:rPr b="0" lang="en-US" sz="16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0" lang="zh-CN" sz="1600" spc="-1" strike="noStrike">
                <a:solidFill>
                  <a:srgbClr val="243b53"/>
                </a:solidFill>
                <a:latin typeface="Noto Sans CJK SC"/>
              </a:rPr>
              <a:t>字段。</a:t>
            </a:r>
            <a:endParaRPr b="0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3" name=""/>
          <p:cNvSpPr/>
          <p:nvPr/>
        </p:nvSpPr>
        <p:spPr>
          <a:xfrm>
            <a:off x="432000" y="1710000"/>
            <a:ext cx="11304000" cy="846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"/>
          <p:cNvSpPr/>
          <p:nvPr/>
        </p:nvSpPr>
        <p:spPr>
          <a:xfrm>
            <a:off x="432000" y="1710000"/>
            <a:ext cx="11304000" cy="2016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四个观察面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5" name=""/>
          <p:cNvSpPr/>
          <p:nvPr/>
        </p:nvSpPr>
        <p:spPr>
          <a:xfrm>
            <a:off x="525600" y="1969200"/>
            <a:ext cx="11116800" cy="522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600" spc="-1" strike="noStrike">
                <a:solidFill>
                  <a:srgbClr val="243b53"/>
                </a:solidFill>
                <a:latin typeface="Noto Sans CJK SC"/>
              </a:rPr>
              <a:t>每一页同时给出：调用入口、内存</a:t>
            </a:r>
            <a:r>
              <a:rPr b="0" lang="en-US" sz="16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0" lang="zh-CN" sz="1600" spc="-1" strike="noStrike">
                <a:solidFill>
                  <a:srgbClr val="243b53"/>
                </a:solidFill>
                <a:latin typeface="Noto Sans CJK SC"/>
              </a:rPr>
              <a:t>对象变化、硬件可见结果、失败回滚。</a:t>
            </a:r>
            <a:endParaRPr b="0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6" name=""/>
          <p:cNvSpPr/>
          <p:nvPr/>
        </p:nvSpPr>
        <p:spPr>
          <a:xfrm>
            <a:off x="432000" y="2682000"/>
            <a:ext cx="11304000" cy="846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432000" y="2682000"/>
            <a:ext cx="11304000" cy="2016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按代码基线阅读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8" name=""/>
          <p:cNvSpPr/>
          <p:nvPr/>
        </p:nvSpPr>
        <p:spPr>
          <a:xfrm>
            <a:off x="525600" y="2941200"/>
            <a:ext cx="11116800" cy="522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600" spc="-1" strike="noStrike">
                <a:solidFill>
                  <a:srgbClr val="243b53"/>
                </a:solidFill>
                <a:latin typeface="Noto Sans CJK SC"/>
              </a:rPr>
              <a:t>代码基线以 </a:t>
            </a:r>
            <a:r>
              <a:rPr b="0" lang="en-US" sz="1600" spc="-1" strike="noStrike">
                <a:solidFill>
                  <a:srgbClr val="243b53"/>
                </a:solidFill>
                <a:latin typeface="Noto Sans CJK SC"/>
              </a:rPr>
              <a:t>.worktrees/rdma-arch-slim </a:t>
            </a:r>
            <a:r>
              <a:rPr b="0" lang="zh-CN" sz="1600" spc="-1" strike="noStrike">
                <a:solidFill>
                  <a:srgbClr val="243b53"/>
                </a:solidFill>
                <a:latin typeface="Noto Sans CJK SC"/>
              </a:rPr>
              <a:t>为准；行号用于快速定位实现。</a:t>
            </a:r>
            <a:endParaRPr b="0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9" name=""/>
          <p:cNvSpPr/>
          <p:nvPr/>
        </p:nvSpPr>
        <p:spPr>
          <a:xfrm>
            <a:off x="468000" y="5724000"/>
            <a:ext cx="11160000" cy="234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300" spc="-1" strike="noStrike">
                <a:solidFill>
                  <a:srgbClr val="243b53"/>
                </a:solidFill>
                <a:latin typeface="Noto Sans CJK SC"/>
              </a:rPr>
              <a:t>主线：资源创建 → </a:t>
            </a:r>
            <a:r>
              <a:rPr b="1" lang="en-US" sz="13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1" lang="zh-CN" sz="1300" spc="-1" strike="noStrike">
                <a:solidFill>
                  <a:srgbClr val="243b53"/>
                </a:solidFill>
                <a:latin typeface="Noto Sans CJK SC"/>
              </a:rPr>
              <a:t>镜像 → </a:t>
            </a:r>
            <a:r>
              <a:rPr b="1" lang="en-US" sz="1300" spc="-1" strike="noStrike">
                <a:solidFill>
                  <a:srgbClr val="243b53"/>
                </a:solidFill>
                <a:latin typeface="Noto Sans CJK SC"/>
              </a:rPr>
              <a:t>QP </a:t>
            </a:r>
            <a:r>
              <a:rPr b="1" lang="zh-CN" sz="1300" spc="-1" strike="noStrike">
                <a:solidFill>
                  <a:srgbClr val="243b53"/>
                </a:solidFill>
                <a:latin typeface="Noto Sans CJK SC"/>
              </a:rPr>
              <a:t>状态 → </a:t>
            </a:r>
            <a:r>
              <a:rPr b="1" lang="en-US" sz="1300" spc="-1" strike="noStrike">
                <a:solidFill>
                  <a:srgbClr val="243b53"/>
                </a:solidFill>
                <a:latin typeface="Noto Sans CJK SC"/>
              </a:rPr>
              <a:t>SQ/RQ </a:t>
            </a:r>
            <a:r>
              <a:rPr b="1" lang="zh-CN" sz="1300" spc="-1" strike="noStrike">
                <a:solidFill>
                  <a:srgbClr val="243b53"/>
                </a:solidFill>
                <a:latin typeface="Noto Sans CJK SC"/>
              </a:rPr>
              <a:t>数据面 → 报文 → </a:t>
            </a:r>
            <a:r>
              <a:rPr b="1" lang="en-US" sz="1300" spc="-1" strike="noStrike">
                <a:solidFill>
                  <a:srgbClr val="243b53"/>
                </a:solidFill>
                <a:latin typeface="Noto Sans CJK SC"/>
              </a:rPr>
              <a:t>CQE → </a:t>
            </a:r>
            <a:r>
              <a:rPr b="1" lang="zh-CN" sz="1300" spc="-1" strike="noStrike">
                <a:solidFill>
                  <a:srgbClr val="243b53"/>
                </a:solidFill>
                <a:latin typeface="Noto Sans CJK SC"/>
              </a:rPr>
              <a:t>销毁。</a:t>
            </a:r>
            <a:endParaRPr b="1" lang="en-US" sz="13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01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环境总览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32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全局对象关系：谁拥有资源，谁只读快照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3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34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02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35" name=""/>
          <p:cNvSpPr/>
          <p:nvPr/>
        </p:nvSpPr>
        <p:spPr>
          <a:xfrm>
            <a:off x="360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对象</a:t>
            </a:r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/</a:t>
            </a:r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层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6" name=""/>
          <p:cNvSpPr/>
          <p:nvPr/>
        </p:nvSpPr>
        <p:spPr>
          <a:xfrm>
            <a:off x="3231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主要职责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7" name=""/>
          <p:cNvSpPr/>
          <p:nvPr/>
        </p:nvSpPr>
        <p:spPr>
          <a:xfrm>
            <a:off x="6102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拥有</a:t>
            </a:r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/</a:t>
            </a:r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借用的资源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8" name=""/>
          <p:cNvSpPr/>
          <p:nvPr/>
        </p:nvSpPr>
        <p:spPr>
          <a:xfrm>
            <a:off x="8973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关键接口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9" name=""/>
          <p:cNvSpPr/>
          <p:nvPr/>
        </p:nvSpPr>
        <p:spPr>
          <a:xfrm>
            <a:off x="360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Function / drv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0" name=""/>
          <p:cNvSpPr/>
          <p:nvPr/>
        </p:nvSpPr>
        <p:spPr>
          <a:xfrm>
            <a:off x="3231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控制面、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CMQ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生命周期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1" name=""/>
          <p:cNvSpPr/>
          <p:nvPr/>
        </p:nvSpPr>
        <p:spPr>
          <a:xfrm>
            <a:off x="6102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拥有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QPN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SQ/RQ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side buffer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镜像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2" name=""/>
          <p:cNvSpPr/>
          <p:nvPr/>
        </p:nvSpPr>
        <p:spPr>
          <a:xfrm>
            <a:off x="8973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create_qp / modify / destroy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3" name=""/>
          <p:cNvSpPr/>
          <p:nvPr/>
        </p:nvSpPr>
        <p:spPr>
          <a:xfrm>
            <a:off x="360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PD / MR / CQ / SRQ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4" name=""/>
          <p:cNvSpPr/>
          <p:nvPr/>
        </p:nvSpPr>
        <p:spPr>
          <a:xfrm>
            <a:off x="3231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权限、内存和完成队列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5" name=""/>
          <p:cNvSpPr/>
          <p:nvPr/>
        </p:nvSpPr>
        <p:spPr>
          <a:xfrm>
            <a:off x="6102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各自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backing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只保存借用引用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6" name=""/>
          <p:cNvSpPr/>
          <p:nvPr/>
        </p:nvSpPr>
        <p:spPr>
          <a:xfrm>
            <a:off x="8973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create / register / post / poll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7" name=""/>
          <p:cNvSpPr/>
          <p:nvPr/>
        </p:nvSpPr>
        <p:spPr>
          <a:xfrm>
            <a:off x="360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HMC / QPC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8" name=""/>
          <p:cNvSpPr/>
          <p:nvPr/>
        </p:nvSpPr>
        <p:spPr>
          <a:xfrm>
            <a:off x="3231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把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QPN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映射到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512B context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9" name=""/>
          <p:cNvSpPr/>
          <p:nvPr/>
        </p:nvSpPr>
        <p:spPr>
          <a:xfrm>
            <a:off x="6102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 slot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shadow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PBA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0" name=""/>
          <p:cNvSpPr/>
          <p:nvPr/>
        </p:nvSpPr>
        <p:spPr>
          <a:xfrm>
            <a:off x="8973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locate / QPC_CREATE / MODIFY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1" name=""/>
          <p:cNvSpPr/>
          <p:nvPr/>
        </p:nvSpPr>
        <p:spPr>
          <a:xfrm>
            <a:off x="360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dev_cmq / dev_nic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2" name=""/>
          <p:cNvSpPr/>
          <p:nvPr/>
        </p:nvSpPr>
        <p:spPr>
          <a:xfrm>
            <a:off x="3231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消费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CMQ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、读取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、执行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NIC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3" name=""/>
          <p:cNvSpPr/>
          <p:nvPr/>
        </p:nvSpPr>
        <p:spPr>
          <a:xfrm>
            <a:off x="6102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设备侧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context/runtime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4" name=""/>
          <p:cNvSpPr/>
          <p:nvPr/>
        </p:nvSpPr>
        <p:spPr>
          <a:xfrm>
            <a:off x="8973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qpc_written / drain_sq / handle_request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5" name=""/>
          <p:cNvSpPr/>
          <p:nvPr/>
        </p:nvSpPr>
        <p:spPr>
          <a:xfrm>
            <a:off x="360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net_packet / dut_link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6" name=""/>
          <p:cNvSpPr/>
          <p:nvPr/>
        </p:nvSpPr>
        <p:spPr>
          <a:xfrm>
            <a:off x="3231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wire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编解码与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DUT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边界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7" name=""/>
          <p:cNvSpPr/>
          <p:nvPr/>
        </p:nvSpPr>
        <p:spPr>
          <a:xfrm>
            <a:off x="6102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raw frame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副本；不拥有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8" name=""/>
          <p:cNvSpPr/>
          <p:nvPr/>
        </p:nvSpPr>
        <p:spPr>
          <a:xfrm>
            <a:off x="8973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encode / decode / endpoint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9" name=""/>
          <p:cNvSpPr/>
          <p:nvPr/>
        </p:nvSpPr>
        <p:spPr>
          <a:xfrm>
            <a:off x="414000" y="5580000"/>
            <a:ext cx="11376000" cy="432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核心不变量：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是硬件上下文权威；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netpacket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只能校验并投影，不能反向覆盖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QPC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1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01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环境总览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62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从环境启动到一次业务完成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3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64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03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5" name=""/>
          <p:cNvSpPr/>
          <p:nvPr/>
        </p:nvSpPr>
        <p:spPr>
          <a:xfrm>
            <a:off x="360000" y="1800000"/>
            <a:ext cx="1524240" cy="450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Function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probe / BAR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6" name=""/>
          <p:cNvSpPr/>
          <p:nvPr/>
        </p:nvSpPr>
        <p:spPr>
          <a:xfrm>
            <a:off x="190944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7" name=""/>
          <p:cNvSpPr/>
          <p:nvPr/>
        </p:nvSpPr>
        <p:spPr>
          <a:xfrm>
            <a:off x="2013840" y="1800000"/>
            <a:ext cx="1524240" cy="450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PD / MR / CQ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8" name=""/>
          <p:cNvSpPr/>
          <p:nvPr/>
        </p:nvSpPr>
        <p:spPr>
          <a:xfrm>
            <a:off x="356328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9" name=""/>
          <p:cNvSpPr/>
          <p:nvPr/>
        </p:nvSpPr>
        <p:spPr>
          <a:xfrm>
            <a:off x="3667680" y="1800000"/>
            <a:ext cx="1524240" cy="450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QP create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QPC_CREATE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0" name=""/>
          <p:cNvSpPr/>
          <p:nvPr/>
        </p:nvSpPr>
        <p:spPr>
          <a:xfrm>
            <a:off x="521712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71" name=""/>
          <p:cNvSpPr/>
          <p:nvPr/>
        </p:nvSpPr>
        <p:spPr>
          <a:xfrm>
            <a:off x="5321520" y="1800000"/>
            <a:ext cx="1524240" cy="450000"/>
          </a:xfrm>
          <a:prstGeom prst="rect">
            <a:avLst/>
          </a:prstGeom>
          <a:solidFill>
            <a:srgbClr val="2e7d32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INIT→RTR→RTS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2" name=""/>
          <p:cNvSpPr/>
          <p:nvPr/>
        </p:nvSpPr>
        <p:spPr>
          <a:xfrm>
            <a:off x="687096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73" name=""/>
          <p:cNvSpPr/>
          <p:nvPr/>
        </p:nvSpPr>
        <p:spPr>
          <a:xfrm>
            <a:off x="6975360" y="1800000"/>
            <a:ext cx="1524240" cy="450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WQE / doorbell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4" name=""/>
          <p:cNvSpPr/>
          <p:nvPr/>
        </p:nvSpPr>
        <p:spPr>
          <a:xfrm>
            <a:off x="852480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75" name=""/>
          <p:cNvSpPr/>
          <p:nvPr/>
        </p:nvSpPr>
        <p:spPr>
          <a:xfrm>
            <a:off x="8629200" y="1800000"/>
            <a:ext cx="1524240" cy="450000"/>
          </a:xfrm>
          <a:prstGeom prst="rect">
            <a:avLst/>
          </a:prstGeom>
          <a:solidFill>
            <a:srgbClr val="6a1b9a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NIC / wire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6" name=""/>
          <p:cNvSpPr/>
          <p:nvPr/>
        </p:nvSpPr>
        <p:spPr>
          <a:xfrm>
            <a:off x="1017864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77" name=""/>
          <p:cNvSpPr/>
          <p:nvPr/>
        </p:nvSpPr>
        <p:spPr>
          <a:xfrm>
            <a:off x="10283040" y="1800000"/>
            <a:ext cx="1524240" cy="450000"/>
          </a:xfrm>
          <a:prstGeom prst="rect">
            <a:avLst/>
          </a:prstGeom>
          <a:solidFill>
            <a:srgbClr val="c62828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CQE / poll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8" name=""/>
          <p:cNvSpPr/>
          <p:nvPr/>
        </p:nvSpPr>
        <p:spPr>
          <a:xfrm>
            <a:off x="450000" y="810000"/>
            <a:ext cx="11268000" cy="540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把每个节点理解成一次“资源</a:t>
            </a:r>
            <a:r>
              <a:rPr b="1" lang="en-US" sz="17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状态</a:t>
            </a:r>
            <a:r>
              <a:rPr b="1" lang="en-US" sz="17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数据所有权变化”，不要只把它当成函数调用顺序。</a:t>
            </a:r>
            <a:endParaRPr b="1" lang="en-US" sz="17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9" name=""/>
          <p:cNvSpPr/>
          <p:nvPr/>
        </p:nvSpPr>
        <p:spPr>
          <a:xfrm>
            <a:off x="450000" y="2916000"/>
            <a:ext cx="11268000" cy="1206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真实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DUT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对接时，最后一段由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rdma_dut_link endpoint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替换模型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loopback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；控制面仍由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driver/dev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负责。</a:t>
            </a:r>
            <a:endParaRPr b="0" lang="en-US" sz="17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02 · CREATE_QP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82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create_qp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的输入前提与所有权边界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83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84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04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85" name=""/>
          <p:cNvSpPr/>
          <p:nvPr/>
        </p:nvSpPr>
        <p:spPr>
          <a:xfrm>
            <a:off x="360000" y="738000"/>
            <a:ext cx="5490000" cy="198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700" spc="-1" strike="noStrike">
                <a:solidFill>
                  <a:srgbClr val="ffffff"/>
                </a:solidFill>
                <a:latin typeface="Noto Sans CJK SC"/>
              </a:rPr>
              <a:t>调用方必须准备</a:t>
            </a:r>
            <a:endParaRPr b="1" lang="en-US" sz="17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86" name=""/>
          <p:cNvSpPr/>
          <p:nvPr/>
        </p:nvSpPr>
        <p:spPr>
          <a:xfrm>
            <a:off x="6336000" y="738000"/>
            <a:ext cx="5490000" cy="198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700" spc="-1" strike="noStrike">
                <a:solidFill>
                  <a:srgbClr val="ffffff"/>
                </a:solidFill>
                <a:latin typeface="Noto Sans CJK SC"/>
              </a:rPr>
              <a:t>create_qp </a:t>
            </a:r>
            <a:r>
              <a:rPr b="1" lang="zh-CN" sz="1700" spc="-1" strike="noStrike">
                <a:solidFill>
                  <a:srgbClr val="ffffff"/>
                </a:solidFill>
                <a:latin typeface="Noto Sans CJK SC"/>
              </a:rPr>
              <a:t>接管</a:t>
            </a:r>
            <a:r>
              <a:rPr b="1" lang="en-US" sz="1700" spc="-1" strike="noStrike">
                <a:solidFill>
                  <a:srgbClr val="ffffff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ffffff"/>
                </a:solidFill>
                <a:latin typeface="Noto Sans CJK SC"/>
              </a:rPr>
              <a:t>借用</a:t>
            </a:r>
            <a:endParaRPr b="1" lang="en-US" sz="17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87" name=""/>
          <p:cNvSpPr/>
          <p:nvPr/>
        </p:nvSpPr>
        <p:spPr>
          <a:xfrm>
            <a:off x="360000" y="954000"/>
            <a:ext cx="5490000" cy="2970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360000" y="954000"/>
            <a:ext cx="50400" cy="2970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442800" y="982800"/>
            <a:ext cx="5367600" cy="29124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PD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非空：决定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QPC_PD_IDX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与本地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远端权限上下文。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send_cq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recv_cq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非空；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URC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可能创建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frag CQ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max_send_wr / max_recv_wr / SGE / inline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等能力参数。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Function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已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probe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，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dev.hw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HMC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CMQ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可用。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90" name=""/>
          <p:cNvSpPr/>
          <p:nvPr/>
        </p:nvSpPr>
        <p:spPr>
          <a:xfrm>
            <a:off x="6336000" y="954000"/>
            <a:ext cx="5490000" cy="2970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"/>
          <p:cNvSpPr/>
          <p:nvPr/>
        </p:nvSpPr>
        <p:spPr>
          <a:xfrm>
            <a:off x="6336000" y="954000"/>
            <a:ext cx="50400" cy="2970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6418800" y="982800"/>
            <a:ext cx="5367600" cy="29124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拥有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QPN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SQ/RQ backing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SGB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side buffer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QPC slot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CQ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PD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SRQ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是借用引用，不在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中释放其主体。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失败时按分配逆序释放；成功后放入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dev.qp_table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入口：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src/drv/rdma_drv_qp.sv:create_qp()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93" name=""/>
          <p:cNvSpPr/>
          <p:nvPr/>
        </p:nvSpPr>
        <p:spPr>
          <a:xfrm>
            <a:off x="396000" y="4320000"/>
            <a:ext cx="11340000" cy="756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先有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Function/PD/CQ/MR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等资源，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QP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才能把高层引用固化为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中的数值。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02 · CREATE_QP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96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create_qp①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：参数检查、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QPN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和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qp_sn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97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98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05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99" name=""/>
          <p:cNvSpPr/>
          <p:nvPr/>
        </p:nvSpPr>
        <p:spPr>
          <a:xfrm>
            <a:off x="378000" y="720000"/>
            <a:ext cx="486000" cy="306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1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00" name=""/>
          <p:cNvSpPr/>
          <p:nvPr/>
        </p:nvSpPr>
        <p:spPr>
          <a:xfrm>
            <a:off x="954000" y="72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检查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max_send_sge/max_recv_sge ≤ 32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max_inline ≤ 512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WR ≤ 32768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01" name=""/>
          <p:cNvSpPr/>
          <p:nvPr/>
        </p:nvSpPr>
        <p:spPr>
          <a:xfrm>
            <a:off x="378000" y="1080000"/>
            <a:ext cx="486000" cy="306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2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02" name=""/>
          <p:cNvSpPr/>
          <p:nvPr/>
        </p:nvSpPr>
        <p:spPr>
          <a:xfrm>
            <a:off x="954000" y="108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检查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PD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send_cq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recv_cq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非空；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URC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不允许携带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SRQ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03" name=""/>
          <p:cNvSpPr/>
          <p:nvPr/>
        </p:nvSpPr>
        <p:spPr>
          <a:xfrm>
            <a:off x="378000" y="1440000"/>
            <a:ext cx="486000" cy="306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3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04" name=""/>
          <p:cNvSpPr/>
          <p:nvPr/>
        </p:nvSpPr>
        <p:spPr>
          <a:xfrm>
            <a:off x="954000" y="144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根据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cfg.rc_to_urc + qp_type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决定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urc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标志；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RC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可能转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URC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05" name=""/>
          <p:cNvSpPr/>
          <p:nvPr/>
        </p:nvSpPr>
        <p:spPr>
          <a:xfrm>
            <a:off x="378000" y="1800000"/>
            <a:ext cx="486000" cy="306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4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06" name=""/>
          <p:cNvSpPr/>
          <p:nvPr/>
        </p:nvSpPr>
        <p:spPr>
          <a:xfrm>
            <a:off x="954000" y="180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dev.qp_ids.alloc_next(qp.qpn)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：从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Function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QPN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分配器取得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QPN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07" name=""/>
          <p:cNvSpPr/>
          <p:nvPr/>
        </p:nvSpPr>
        <p:spPr>
          <a:xfrm>
            <a:off x="378000" y="2160000"/>
            <a:ext cx="486000" cy="306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5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08" name=""/>
          <p:cNvSpPr/>
          <p:nvPr/>
        </p:nvSpPr>
        <p:spPr>
          <a:xfrm>
            <a:off x="954000" y="216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dev.qp_sn[qpn]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不存在则置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0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qp.qp_sn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取当前值，再自增保存下次序号。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09" name=""/>
          <p:cNvSpPr/>
          <p:nvPr/>
        </p:nvSpPr>
        <p:spPr>
          <a:xfrm>
            <a:off x="7200000" y="720000"/>
            <a:ext cx="4608000" cy="1872000"/>
          </a:xfrm>
          <a:prstGeom prst="rect">
            <a:avLst/>
          </a:prstGeom>
          <a:solidFill>
            <a:srgbClr val="172b4d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if (!dev.qp_ids.alloc_next(qp.qpn))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  </a:t>
            </a:r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return RESOURCE_EXHAUSTED;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if (!dev.qp_sn.exists(qp.qpn))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  </a:t>
            </a:r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dev.qp_sn[qp.qpn] = 0;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qp.qp_sn = dev.qp_sn[qp.qpn]++;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</p:txBody>
      </p:sp>
      <p:sp>
        <p:nvSpPr>
          <p:cNvPr id="110" name=""/>
          <p:cNvSpPr/>
          <p:nvPr/>
        </p:nvSpPr>
        <p:spPr>
          <a:xfrm>
            <a:off x="7200000" y="2682000"/>
            <a:ext cx="4608000" cy="810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rdma_drv_qp.sv:216-248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QPN 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是 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Function 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内资源身份，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qp_sn 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用于 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WQE/doorbell 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匹配。</a:t>
            </a:r>
            <a:endParaRPr b="0" lang="en-US" sz="13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11" name=""/>
          <p:cNvSpPr/>
          <p:nvPr/>
        </p:nvSpPr>
        <p:spPr>
          <a:xfrm>
            <a:off x="396000" y="4356000"/>
            <a:ext cx="11340000" cy="594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讲解重点：先说输入和所有权，再说写入了哪块内存，最后说失败时谁负责回滚。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02 · CREATE_QP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114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create_qp②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：队列深度如何计算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15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116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06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117" name=""/>
          <p:cNvSpPr/>
          <p:nvPr/>
        </p:nvSpPr>
        <p:spPr>
          <a:xfrm>
            <a:off x="360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参数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18" name=""/>
          <p:cNvSpPr/>
          <p:nvPr/>
        </p:nvSpPr>
        <p:spPr>
          <a:xfrm>
            <a:off x="3231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普通 </a:t>
            </a:r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RC/UD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19" name=""/>
          <p:cNvSpPr/>
          <p:nvPr/>
        </p:nvSpPr>
        <p:spPr>
          <a:xfrm>
            <a:off x="6102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URC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20" name=""/>
          <p:cNvSpPr/>
          <p:nvPr/>
        </p:nvSpPr>
        <p:spPr>
          <a:xfrm>
            <a:off x="8973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实现行为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21" name=""/>
          <p:cNvSpPr/>
          <p:nvPr/>
        </p:nvSpPr>
        <p:spPr>
          <a:xfrm>
            <a:off x="360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最小深度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22" name=""/>
          <p:cNvSpPr/>
          <p:nvPr/>
        </p:nvSpPr>
        <p:spPr>
          <a:xfrm>
            <a:off x="3231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256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23" name=""/>
          <p:cNvSpPr/>
          <p:nvPr/>
        </p:nvSpPr>
        <p:spPr>
          <a:xfrm>
            <a:off x="6102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8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24" name=""/>
          <p:cNvSpPr/>
          <p:nvPr/>
        </p:nvSpPr>
        <p:spPr>
          <a:xfrm>
            <a:off x="8973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低于下限时提升到下限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25" name=""/>
          <p:cNvSpPr/>
          <p:nvPr/>
        </p:nvSpPr>
        <p:spPr>
          <a:xfrm>
            <a:off x="360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最大深度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26" name=""/>
          <p:cNvSpPr/>
          <p:nvPr/>
        </p:nvSpPr>
        <p:spPr>
          <a:xfrm>
            <a:off x="3231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32768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27" name=""/>
          <p:cNvSpPr/>
          <p:nvPr/>
        </p:nvSpPr>
        <p:spPr>
          <a:xfrm>
            <a:off x="6102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32768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28" name=""/>
          <p:cNvSpPr/>
          <p:nvPr/>
        </p:nvSpPr>
        <p:spPr>
          <a:xfrm>
            <a:off x="8973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超过上限直接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INVALID_ARGUMENT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29" name=""/>
          <p:cNvSpPr/>
          <p:nvPr/>
        </p:nvSpPr>
        <p:spPr>
          <a:xfrm>
            <a:off x="360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最终深度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30" name=""/>
          <p:cNvSpPr/>
          <p:nvPr/>
        </p:nvSpPr>
        <p:spPr>
          <a:xfrm>
            <a:off x="3231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2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的幂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31" name=""/>
          <p:cNvSpPr/>
          <p:nvPr/>
        </p:nvSpPr>
        <p:spPr>
          <a:xfrm>
            <a:off x="6102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2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的幂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32" name=""/>
          <p:cNvSpPr/>
          <p:nvPr/>
        </p:nvSpPr>
        <p:spPr>
          <a:xfrm>
            <a:off x="8973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1 &lt;&lt; $clog2(requested)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33" name=""/>
          <p:cNvSpPr/>
          <p:nvPr/>
        </p:nvSpPr>
        <p:spPr>
          <a:xfrm>
            <a:off x="360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SQ/RQ backing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34" name=""/>
          <p:cNvSpPr/>
          <p:nvPr/>
        </p:nvSpPr>
        <p:spPr>
          <a:xfrm>
            <a:off x="3231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depth × 64B WQE/RQE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35" name=""/>
          <p:cNvSpPr/>
          <p:nvPr/>
        </p:nvSpPr>
        <p:spPr>
          <a:xfrm>
            <a:off x="6102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同样按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depth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分配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36" name=""/>
          <p:cNvSpPr/>
          <p:nvPr/>
        </p:nvSpPr>
        <p:spPr>
          <a:xfrm>
            <a:off x="8973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kbuf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按页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大页策略申请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37" name=""/>
          <p:cNvSpPr/>
          <p:nvPr/>
        </p:nvSpPr>
        <p:spPr>
          <a:xfrm>
            <a:off x="360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环状态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38" name=""/>
          <p:cNvSpPr/>
          <p:nvPr/>
        </p:nvSpPr>
        <p:spPr>
          <a:xfrm>
            <a:off x="3231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head/tail/polarity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39" name=""/>
          <p:cNvSpPr/>
          <p:nvPr/>
        </p:nvSpPr>
        <p:spPr>
          <a:xfrm>
            <a:off x="6102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head/tail/polarity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40" name=""/>
          <p:cNvSpPr/>
          <p:nvPr/>
        </p:nvSpPr>
        <p:spPr>
          <a:xfrm>
            <a:off x="8973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软件对象和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device runtime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各持一份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41" name=""/>
          <p:cNvSpPr/>
          <p:nvPr/>
        </p:nvSpPr>
        <p:spPr>
          <a:xfrm>
            <a:off x="414000" y="5580000"/>
            <a:ext cx="11376000" cy="432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round_depth()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只计算深度；真正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DMA backing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在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alloc_buffers()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中申请，失败由上层统一回滚。</a:t>
            </a:r>
            <a:endParaRPr b="1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02 · CREATE_QP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144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create_qp③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SQ/RQ backing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分配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45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146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07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147" name=""/>
          <p:cNvSpPr/>
          <p:nvPr/>
        </p:nvSpPr>
        <p:spPr>
          <a:xfrm>
            <a:off x="360000" y="1800000"/>
            <a:ext cx="2185920" cy="450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round_depth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48" name=""/>
          <p:cNvSpPr/>
          <p:nvPr/>
        </p:nvSpPr>
        <p:spPr>
          <a:xfrm>
            <a:off x="257112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149" name=""/>
          <p:cNvSpPr/>
          <p:nvPr/>
        </p:nvSpPr>
        <p:spPr>
          <a:xfrm>
            <a:off x="2675520" y="1800000"/>
            <a:ext cx="2185920" cy="450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sq_kbuf.alloc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50" name=""/>
          <p:cNvSpPr/>
          <p:nvPr/>
        </p:nvSpPr>
        <p:spPr>
          <a:xfrm>
            <a:off x="488664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151" name=""/>
          <p:cNvSpPr/>
          <p:nvPr/>
        </p:nvSpPr>
        <p:spPr>
          <a:xfrm>
            <a:off x="4991040" y="1800000"/>
            <a:ext cx="2185920" cy="450000"/>
          </a:xfrm>
          <a:prstGeom prst="rect">
            <a:avLst/>
          </a:prstGeom>
          <a:solidFill>
            <a:srgbClr val="2e7d32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rq_kbuf.alloc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无 </a:t>
            </a:r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SRQ </a:t>
            </a:r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时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52" name=""/>
          <p:cNvSpPr/>
          <p:nvPr/>
        </p:nvSpPr>
        <p:spPr>
          <a:xfrm>
            <a:off x="720216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153" name=""/>
          <p:cNvSpPr/>
          <p:nvPr/>
        </p:nvSpPr>
        <p:spPr>
          <a:xfrm>
            <a:off x="7306560" y="1800000"/>
            <a:ext cx="2185920" cy="450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初始化 </a:t>
            </a:r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head/tail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polarity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54" name=""/>
          <p:cNvSpPr/>
          <p:nvPr/>
        </p:nvSpPr>
        <p:spPr>
          <a:xfrm>
            <a:off x="951768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155" name=""/>
          <p:cNvSpPr/>
          <p:nvPr/>
        </p:nvSpPr>
        <p:spPr>
          <a:xfrm>
            <a:off x="9622080" y="1800000"/>
            <a:ext cx="2185920" cy="450000"/>
          </a:xfrm>
          <a:prstGeom prst="rect">
            <a:avLst/>
          </a:prstGeom>
          <a:solidFill>
            <a:srgbClr val="6a1b9a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写入 </a:t>
            </a:r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QPC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SQ/RQ PBA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56" name=""/>
          <p:cNvSpPr/>
          <p:nvPr/>
        </p:nvSpPr>
        <p:spPr>
          <a:xfrm>
            <a:off x="450000" y="810000"/>
            <a:ext cx="11268000" cy="540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把每个节点理解成一次“资源</a:t>
            </a:r>
            <a:r>
              <a:rPr b="1" lang="en-US" sz="17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状态</a:t>
            </a:r>
            <a:r>
              <a:rPr b="1" lang="en-US" sz="17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数据所有权变化”，不要只把它当成函数调用顺序。</a:t>
            </a:r>
            <a:endParaRPr b="1" lang="en-US" sz="17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57" name=""/>
          <p:cNvSpPr/>
          <p:nvPr/>
        </p:nvSpPr>
        <p:spPr>
          <a:xfrm>
            <a:off x="450000" y="2916000"/>
            <a:ext cx="11268000" cy="1206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SQ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一定由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QP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自己拥有；没有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SRQ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时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RQ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由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QP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拥有，有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SRQ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时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QPC_RQ_PBA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指向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SRQ backing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7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02 · CREATE_QP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160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create_qp④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SGB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为什么存在，如何分配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61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162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08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163" name=""/>
          <p:cNvSpPr/>
          <p:nvPr/>
        </p:nvSpPr>
        <p:spPr>
          <a:xfrm>
            <a:off x="378000" y="720000"/>
            <a:ext cx="486000" cy="306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触发条件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64" name=""/>
          <p:cNvSpPr/>
          <p:nvPr/>
        </p:nvSpPr>
        <p:spPr>
          <a:xfrm>
            <a:off x="954000" y="72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UD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一律启用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SGB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RC/URC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在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max_send_sge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或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max_recv_sge &gt; 2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时启用。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65" name=""/>
          <p:cNvSpPr/>
          <p:nvPr/>
        </p:nvSpPr>
        <p:spPr>
          <a:xfrm>
            <a:off x="378000" y="1080000"/>
            <a:ext cx="486000" cy="306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页大小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66" name=""/>
          <p:cNvSpPr/>
          <p:nvPr/>
        </p:nvSpPr>
        <p:spPr>
          <a:xfrm>
            <a:off x="954000" y="108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每页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4096B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4096B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对齐；一个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SGB page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切成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8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个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512B slot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67" name=""/>
          <p:cNvSpPr/>
          <p:nvPr/>
        </p:nvSpPr>
        <p:spPr>
          <a:xfrm>
            <a:off x="378000" y="1440000"/>
            <a:ext cx="486000" cy="306000"/>
          </a:xfrm>
          <a:prstGeom prst="rect">
            <a:avLst/>
          </a:prstGeom>
          <a:solidFill>
            <a:srgbClr val="2e7d32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页数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68" name=""/>
          <p:cNvSpPr/>
          <p:nvPr/>
        </p:nvSpPr>
        <p:spPr>
          <a:xfrm>
            <a:off x="954000" y="144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：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sq_depth / 8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RQ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：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rq_depth / 8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（无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SRQ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时）。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69" name=""/>
          <p:cNvSpPr/>
          <p:nvPr/>
        </p:nvSpPr>
        <p:spPr>
          <a:xfrm>
            <a:off x="378000" y="1800000"/>
            <a:ext cx="486000" cy="306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槽地址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70" name=""/>
          <p:cNvSpPr/>
          <p:nvPr/>
        </p:nvSpPr>
        <p:spPr>
          <a:xfrm>
            <a:off x="954000" y="180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page[idx/8].iova + (idx%8)×512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；写入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WQE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SGB_PA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为地址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&gt;&gt; 9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71" name=""/>
          <p:cNvSpPr/>
          <p:nvPr/>
        </p:nvSpPr>
        <p:spPr>
          <a:xfrm>
            <a:off x="378000" y="2160000"/>
            <a:ext cx="486000" cy="306000"/>
          </a:xfrm>
          <a:prstGeom prst="rect">
            <a:avLst/>
          </a:prstGeom>
          <a:solidFill>
            <a:srgbClr val="6a1b9a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用途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72" name=""/>
          <p:cNvSpPr/>
          <p:nvPr/>
        </p:nvSpPr>
        <p:spPr>
          <a:xfrm>
            <a:off x="954000" y="216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存放超过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WQE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内嵌区域的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SGE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描述符或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inline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数据，并参与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WQE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签名。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73" name=""/>
          <p:cNvSpPr/>
          <p:nvPr/>
        </p:nvSpPr>
        <p:spPr>
          <a:xfrm>
            <a:off x="7200000" y="720000"/>
            <a:ext cx="4608000" cy="1872000"/>
          </a:xfrm>
          <a:prstGeom prst="rect">
            <a:avLst/>
          </a:prstGeom>
          <a:solidFill>
            <a:srgbClr val="172b4d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for i &lt; sq_depth / 8: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  </a:t>
            </a:r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alloc_dma(4096, align=4096, sq_sgb[i])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sgb_page = sq_sgb[idx / 8]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sgb_pa   = page.iova + (idx % 8) * 512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</p:txBody>
      </p:sp>
      <p:sp>
        <p:nvSpPr>
          <p:cNvPr id="174" name=""/>
          <p:cNvSpPr/>
          <p:nvPr/>
        </p:nvSpPr>
        <p:spPr>
          <a:xfrm>
            <a:off x="7200000" y="2682000"/>
            <a:ext cx="4608000" cy="810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rdma_drv_qp.sv:391-425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sgb_addr()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rdma_drv_wr.sv:268-303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3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175" name=""/>
          <p:cNvSpPr/>
          <p:nvPr/>
        </p:nvSpPr>
        <p:spPr>
          <a:xfrm>
            <a:off x="396000" y="4356000"/>
            <a:ext cx="11340000" cy="594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讲解重点：先说输入和所有权，再说写入了哪块内存，最后说失败时谁负责回滚。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02 · CREATE_QP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178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SGB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的内存布局：一个页如何服务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8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个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WQE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79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180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09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181" name=""/>
          <p:cNvSpPr/>
          <p:nvPr/>
        </p:nvSpPr>
        <p:spPr>
          <a:xfrm>
            <a:off x="360000" y="810000"/>
            <a:ext cx="11448000" cy="360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000" spc="-1" strike="noStrike">
                <a:solidFill>
                  <a:srgbClr val="1565c0"/>
                </a:solidFill>
                <a:latin typeface="Noto Sans Mono CJK SC"/>
              </a:rPr>
              <a:t>4 KiB SGB page = 8 × 512 B slot</a:t>
            </a:r>
            <a:endParaRPr b="1" lang="en-US" sz="2000" spc="-1" strike="noStrike">
              <a:solidFill>
                <a:srgbClr val="1565c0"/>
              </a:solidFill>
              <a:latin typeface="Noto Sans Mono CJK SC"/>
            </a:endParaRPr>
          </a:p>
        </p:txBody>
      </p:sp>
      <p:sp>
        <p:nvSpPr>
          <p:cNvPr id="182" name=""/>
          <p:cNvSpPr/>
          <p:nvPr/>
        </p:nvSpPr>
        <p:spPr>
          <a:xfrm>
            <a:off x="396000" y="1440000"/>
            <a:ext cx="2484000" cy="792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slot 0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page + 0 × 512B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SGB_PA = IOVA &gt;&gt; 9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83" name=""/>
          <p:cNvSpPr/>
          <p:nvPr/>
        </p:nvSpPr>
        <p:spPr>
          <a:xfrm>
            <a:off x="3240000" y="1440000"/>
            <a:ext cx="2484000" cy="792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slot 1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page + 1 × 512B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SGB_PA = IOVA &gt;&gt; 9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84" name=""/>
          <p:cNvSpPr/>
          <p:nvPr/>
        </p:nvSpPr>
        <p:spPr>
          <a:xfrm>
            <a:off x="6084000" y="1440000"/>
            <a:ext cx="2484000" cy="792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slot 2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page + 2 × 512B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SGB_PA = IOVA &gt;&gt; 9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85" name=""/>
          <p:cNvSpPr/>
          <p:nvPr/>
        </p:nvSpPr>
        <p:spPr>
          <a:xfrm>
            <a:off x="8928000" y="1440000"/>
            <a:ext cx="2484000" cy="792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slot 3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page + 3 × 512B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SGB_PA = IOVA &gt;&gt; 9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86" name=""/>
          <p:cNvSpPr/>
          <p:nvPr/>
        </p:nvSpPr>
        <p:spPr>
          <a:xfrm>
            <a:off x="396000" y="2574000"/>
            <a:ext cx="2484000" cy="792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slot 4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page + 4 × 512B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SGB_PA = IOVA &gt;&gt; 9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87" name=""/>
          <p:cNvSpPr/>
          <p:nvPr/>
        </p:nvSpPr>
        <p:spPr>
          <a:xfrm>
            <a:off x="3240000" y="2574000"/>
            <a:ext cx="2484000" cy="792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slot 5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page + 5 × 512B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SGB_PA = IOVA &gt;&gt; 9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88" name=""/>
          <p:cNvSpPr/>
          <p:nvPr/>
        </p:nvSpPr>
        <p:spPr>
          <a:xfrm>
            <a:off x="6084000" y="2574000"/>
            <a:ext cx="2484000" cy="792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slot 6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page + 6 × 512B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SGB_PA = IOVA &gt;&gt; 9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89" name=""/>
          <p:cNvSpPr/>
          <p:nvPr/>
        </p:nvSpPr>
        <p:spPr>
          <a:xfrm>
            <a:off x="8928000" y="2574000"/>
            <a:ext cx="2484000" cy="792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slot 7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page + 7 × 512B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SGB_PA = IOVA &gt;&gt; 9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190" name=""/>
          <p:cNvSpPr/>
          <p:nvPr/>
        </p:nvSpPr>
        <p:spPr>
          <a:xfrm>
            <a:off x="432000" y="4140000"/>
            <a:ext cx="11232000" cy="612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SGB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不替代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SQ/RQ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环；它是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WQE/RQE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的扩展数据区，环槽仍位于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sq_kbuf/rq_kbuf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02 · CREATE_QP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193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create_qp⑤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RC / UD / URC side buffer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94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195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10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196" name=""/>
          <p:cNvSpPr/>
          <p:nvPr/>
        </p:nvSpPr>
        <p:spPr>
          <a:xfrm>
            <a:off x="360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QP </a:t>
            </a:r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类型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97" name=""/>
          <p:cNvSpPr/>
          <p:nvPr/>
        </p:nvSpPr>
        <p:spPr>
          <a:xfrm>
            <a:off x="3231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side_bufs </a:t>
            </a:r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数量</a:t>
            </a:r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/</a:t>
            </a:r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顺序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98" name=""/>
          <p:cNvSpPr/>
          <p:nvPr/>
        </p:nvSpPr>
        <p:spPr>
          <a:xfrm>
            <a:off x="6102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QPC </a:t>
            </a:r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使用字段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199" name=""/>
          <p:cNvSpPr/>
          <p:nvPr/>
        </p:nvSpPr>
        <p:spPr>
          <a:xfrm>
            <a:off x="8973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用途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00" name=""/>
          <p:cNvSpPr/>
          <p:nvPr/>
        </p:nvSpPr>
        <p:spPr>
          <a:xfrm>
            <a:off x="360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UD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01" name=""/>
          <p:cNvSpPr/>
          <p:nvPr/>
        </p:nvSpPr>
        <p:spPr>
          <a:xfrm>
            <a:off x="3231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1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：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UAQ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02" name=""/>
          <p:cNvSpPr/>
          <p:nvPr/>
        </p:nvSpPr>
        <p:spPr>
          <a:xfrm>
            <a:off x="6102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UAQ_PBA / UAQ_SIZE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03" name=""/>
          <p:cNvSpPr/>
          <p:nvPr/>
        </p:nvSpPr>
        <p:spPr>
          <a:xfrm>
            <a:off x="8973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异常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异步队列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04" name=""/>
          <p:cNvSpPr/>
          <p:nvPr/>
        </p:nvSpPr>
        <p:spPr>
          <a:xfrm>
            <a:off x="360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RC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05" name=""/>
          <p:cNvSpPr/>
          <p:nvPr/>
        </p:nvSpPr>
        <p:spPr>
          <a:xfrm>
            <a:off x="3231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4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：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UAQ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ORQ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EIRQ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EIRQ_EXTRA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06" name=""/>
          <p:cNvSpPr/>
          <p:nvPr/>
        </p:nvSpPr>
        <p:spPr>
          <a:xfrm>
            <a:off x="6102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ORQ_PBA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EIRQ_PBA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EIRQ_PBA_EXTRA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07" name=""/>
          <p:cNvSpPr/>
          <p:nvPr/>
        </p:nvSpPr>
        <p:spPr>
          <a:xfrm>
            <a:off x="8973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读请求、异常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重试与异步状态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08" name=""/>
          <p:cNvSpPr/>
          <p:nvPr/>
        </p:nvSpPr>
        <p:spPr>
          <a:xfrm>
            <a:off x="360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URC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09" name=""/>
          <p:cNvSpPr/>
          <p:nvPr/>
        </p:nvSpPr>
        <p:spPr>
          <a:xfrm>
            <a:off x="3231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4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：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UAQ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RSQ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RDSQ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DSQ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DSQ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为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8KiB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10" name=""/>
          <p:cNvSpPr/>
          <p:nvPr/>
        </p:nvSpPr>
        <p:spPr>
          <a:xfrm>
            <a:off x="6102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RSQ/RDSQ/DSQ PBA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与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fetch/PSN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字段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11" name=""/>
          <p:cNvSpPr/>
          <p:nvPr/>
        </p:nvSpPr>
        <p:spPr>
          <a:xfrm>
            <a:off x="8973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URC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请求、数据和重排状态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12" name=""/>
          <p:cNvSpPr/>
          <p:nvPr/>
        </p:nvSpPr>
        <p:spPr>
          <a:xfrm>
            <a:off x="414000" y="5580000"/>
            <a:ext cx="11376000" cy="432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RC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ORQ_PBA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与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URC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RSQ_PBA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共用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重叠区域；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service type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决定设备按哪套语义解释。</a:t>
            </a:r>
            <a:endParaRPr b="1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02 · CREATE_QP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215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create_qp⑥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HMC QPC slot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与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shadow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16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217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11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218" name=""/>
          <p:cNvSpPr/>
          <p:nvPr/>
        </p:nvSpPr>
        <p:spPr>
          <a:xfrm>
            <a:off x="360000" y="738000"/>
            <a:ext cx="5490000" cy="198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700" spc="-1" strike="noStrike">
                <a:solidFill>
                  <a:srgbClr val="ffffff"/>
                </a:solidFill>
                <a:latin typeface="Noto Sans CJK SC"/>
              </a:rPr>
              <a:t>HMC </a:t>
            </a:r>
            <a:r>
              <a:rPr b="1" lang="zh-CN" sz="1700" spc="-1" strike="noStrike">
                <a:solidFill>
                  <a:srgbClr val="ffffff"/>
                </a:solidFill>
                <a:latin typeface="Noto Sans CJK SC"/>
              </a:rPr>
              <a:t>定位</a:t>
            </a:r>
            <a:endParaRPr b="1" lang="en-US" sz="17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19" name=""/>
          <p:cNvSpPr/>
          <p:nvPr/>
        </p:nvSpPr>
        <p:spPr>
          <a:xfrm>
            <a:off x="6336000" y="738000"/>
            <a:ext cx="5490000" cy="198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700" spc="-1" strike="noStrike">
                <a:solidFill>
                  <a:srgbClr val="ffffff"/>
                </a:solidFill>
                <a:latin typeface="Noto Sans CJK SC"/>
              </a:rPr>
              <a:t>shadow </a:t>
            </a:r>
            <a:r>
              <a:rPr b="1" lang="zh-CN" sz="1700" spc="-1" strike="noStrike">
                <a:solidFill>
                  <a:srgbClr val="ffffff"/>
                </a:solidFill>
                <a:latin typeface="Noto Sans CJK SC"/>
              </a:rPr>
              <a:t>的运行时作用</a:t>
            </a:r>
            <a:endParaRPr b="1" lang="en-US" sz="17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20" name=""/>
          <p:cNvSpPr/>
          <p:nvPr/>
        </p:nvSpPr>
        <p:spPr>
          <a:xfrm>
            <a:off x="360000" y="954000"/>
            <a:ext cx="5490000" cy="2970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"/>
          <p:cNvSpPr/>
          <p:nvPr/>
        </p:nvSpPr>
        <p:spPr>
          <a:xfrm>
            <a:off x="360000" y="954000"/>
            <a:ext cx="50400" cy="2970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"/>
          <p:cNvSpPr/>
          <p:nvPr/>
        </p:nvSpPr>
        <p:spPr>
          <a:xfrm>
            <a:off x="442800" y="982800"/>
            <a:ext cx="5367600" cy="29124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dev.hmc[HMC_QPC].locate(qpn, ctx_page, ctx_offset)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ctx_page/ctx_offset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是该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QPN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对应的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物理存储位置。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先写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512B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全零，避免旧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context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残留。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QPC shadow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位于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context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页内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+504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附近。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23" name=""/>
          <p:cNvSpPr/>
          <p:nvPr/>
        </p:nvSpPr>
        <p:spPr>
          <a:xfrm>
            <a:off x="6336000" y="954000"/>
            <a:ext cx="5490000" cy="2970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"/>
          <p:cNvSpPr/>
          <p:nvPr/>
        </p:nvSpPr>
        <p:spPr>
          <a:xfrm>
            <a:off x="6336000" y="954000"/>
            <a:ext cx="50400" cy="2970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"/>
          <p:cNvSpPr/>
          <p:nvPr/>
        </p:nvSpPr>
        <p:spPr>
          <a:xfrm>
            <a:off x="6418800" y="982800"/>
            <a:ext cx="5367600" cy="29124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QPC+504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：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SQ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HW_DROP_DB_CNT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QPC+510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：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RQ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PI|wrap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driver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用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shadow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判断是否能再次敲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doorbell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device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用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shadow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发布消费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处理进度。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26" name=""/>
          <p:cNvSpPr/>
          <p:nvPr/>
        </p:nvSpPr>
        <p:spPr>
          <a:xfrm>
            <a:off x="396000" y="4320000"/>
            <a:ext cx="11340000" cy="756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镜像不仅是静态配置，也是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driver/dev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之间的运行时协作内存。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02 · CREATE_QP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229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create_qp⑦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fill_qpc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写入哪些公共字段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30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231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12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232" name=""/>
          <p:cNvSpPr/>
          <p:nvPr/>
        </p:nvSpPr>
        <p:spPr>
          <a:xfrm>
            <a:off x="360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字段组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33" name=""/>
          <p:cNvSpPr/>
          <p:nvPr/>
        </p:nvSpPr>
        <p:spPr>
          <a:xfrm>
            <a:off x="3231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典型字段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34" name=""/>
          <p:cNvSpPr/>
          <p:nvPr/>
        </p:nvSpPr>
        <p:spPr>
          <a:xfrm>
            <a:off x="6102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来源</a:t>
            </a:r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/</a:t>
            </a:r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计算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35" name=""/>
          <p:cNvSpPr/>
          <p:nvPr/>
        </p:nvSpPr>
        <p:spPr>
          <a:xfrm>
            <a:off x="8973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写入目的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36" name=""/>
          <p:cNvSpPr/>
          <p:nvPr/>
        </p:nvSpPr>
        <p:spPr>
          <a:xfrm>
            <a:off x="360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身份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37" name=""/>
          <p:cNvSpPr/>
          <p:nvPr/>
        </p:nvSpPr>
        <p:spPr>
          <a:xfrm>
            <a:off x="3231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HOST_ID / VF_ID / QPN / QP_SN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38" name=""/>
          <p:cNvSpPr/>
          <p:nvPr/>
        </p:nvSpPr>
        <p:spPr>
          <a:xfrm>
            <a:off x="6102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dev.cfg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、分配器、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qp_sn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表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39" name=""/>
          <p:cNvSpPr/>
          <p:nvPr/>
        </p:nvSpPr>
        <p:spPr>
          <a:xfrm>
            <a:off x="8973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Function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隔离与请求归属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40" name=""/>
          <p:cNvSpPr/>
          <p:nvPr/>
        </p:nvSpPr>
        <p:spPr>
          <a:xfrm>
            <a:off x="360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基础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41" name=""/>
          <p:cNvSpPr/>
          <p:nvPr/>
        </p:nvSpPr>
        <p:spPr>
          <a:xfrm>
            <a:off x="3231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PKEY / ICOS / endian / fence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42" name=""/>
          <p:cNvSpPr/>
          <p:nvPr/>
        </p:nvSpPr>
        <p:spPr>
          <a:xfrm>
            <a:off x="6102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驱动固定值或配置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43" name=""/>
          <p:cNvSpPr/>
          <p:nvPr/>
        </p:nvSpPr>
        <p:spPr>
          <a:xfrm>
            <a:off x="8973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协议和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DMA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访问约束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44" name=""/>
          <p:cNvSpPr/>
          <p:nvPr/>
        </p:nvSpPr>
        <p:spPr>
          <a:xfrm>
            <a:off x="360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状态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45" name=""/>
          <p:cNvSpPr/>
          <p:nvPr/>
        </p:nvSpPr>
        <p:spPr>
          <a:xfrm>
            <a:off x="3231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QP_ST=INIT / PMTU / RNR_RETRY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46" name=""/>
          <p:cNvSpPr/>
          <p:nvPr/>
        </p:nvSpPr>
        <p:spPr>
          <a:xfrm>
            <a:off x="6102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qpc_state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MTU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编码、默认阈值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47" name=""/>
          <p:cNvSpPr/>
          <p:nvPr/>
        </p:nvSpPr>
        <p:spPr>
          <a:xfrm>
            <a:off x="8973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设备初始准入与分片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48" name=""/>
          <p:cNvSpPr/>
          <p:nvPr/>
        </p:nvSpPr>
        <p:spPr>
          <a:xfrm>
            <a:off x="360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权限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关联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49" name=""/>
          <p:cNvSpPr/>
          <p:nvPr/>
        </p:nvSpPr>
        <p:spPr>
          <a:xfrm>
            <a:off x="3231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PD_IDX / SRFQ / SQ_CQN / RQ_CQN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50" name=""/>
          <p:cNvSpPr/>
          <p:nvPr/>
        </p:nvSpPr>
        <p:spPr>
          <a:xfrm>
            <a:off x="6102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PD/CQ/SRQ handle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映射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51" name=""/>
          <p:cNvSpPr/>
          <p:nvPr/>
        </p:nvSpPr>
        <p:spPr>
          <a:xfrm>
            <a:off x="8973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完成和内存权限路径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52" name=""/>
          <p:cNvSpPr/>
          <p:nvPr/>
        </p:nvSpPr>
        <p:spPr>
          <a:xfrm>
            <a:off x="360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地址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53" name=""/>
          <p:cNvSpPr/>
          <p:nvPr/>
        </p:nvSpPr>
        <p:spPr>
          <a:xfrm>
            <a:off x="3231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SHADOW_PBA / SQ_PBA / RQ_PBA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54" name=""/>
          <p:cNvSpPr/>
          <p:nvPr/>
        </p:nvSpPr>
        <p:spPr>
          <a:xfrm>
            <a:off x="6102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ctx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kbuf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SRQ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IOVA &gt;&gt;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对齐位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55" name=""/>
          <p:cNvSpPr/>
          <p:nvPr/>
        </p:nvSpPr>
        <p:spPr>
          <a:xfrm>
            <a:off x="8973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设备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DMA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读取队列和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shadow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56" name=""/>
          <p:cNvSpPr/>
          <p:nvPr/>
        </p:nvSpPr>
        <p:spPr>
          <a:xfrm>
            <a:off x="360000" y="365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网络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57" name=""/>
          <p:cNvSpPr/>
          <p:nvPr/>
        </p:nvSpPr>
        <p:spPr>
          <a:xfrm>
            <a:off x="3231000" y="365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DSCP / HOPLIMIT / UDP_SPORT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58" name=""/>
          <p:cNvSpPr/>
          <p:nvPr/>
        </p:nvSpPr>
        <p:spPr>
          <a:xfrm>
            <a:off x="6102000" y="365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默认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随机源端口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59" name=""/>
          <p:cNvSpPr/>
          <p:nvPr/>
        </p:nvSpPr>
        <p:spPr>
          <a:xfrm>
            <a:off x="8973000" y="365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RoCE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外层发送属性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60" name=""/>
          <p:cNvSpPr/>
          <p:nvPr/>
        </p:nvSpPr>
        <p:spPr>
          <a:xfrm>
            <a:off x="414000" y="5580000"/>
            <a:ext cx="11376000" cy="432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地址字段保存的是硬件可用的对齐后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PBA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，不是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SystemVerilog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对象句柄。</a:t>
            </a:r>
            <a:endParaRPr b="1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02 · CREATE_QP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263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create_qp⑧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RC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、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UD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、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URC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的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QPC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初始差异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64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265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13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266" name=""/>
          <p:cNvSpPr/>
          <p:nvPr/>
        </p:nvSpPr>
        <p:spPr>
          <a:xfrm>
            <a:off x="360000" y="864000"/>
            <a:ext cx="3600000" cy="234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ffffff"/>
                </a:solidFill>
                <a:latin typeface="Noto Sans CJK SC"/>
              </a:rPr>
              <a:t>RC</a:t>
            </a:r>
            <a:endParaRPr b="1" lang="en-US" sz="19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67" name=""/>
          <p:cNvSpPr/>
          <p:nvPr/>
        </p:nvSpPr>
        <p:spPr>
          <a:xfrm>
            <a:off x="360000" y="1098000"/>
            <a:ext cx="3600000" cy="2592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"/>
          <p:cNvSpPr/>
          <p:nvPr/>
        </p:nvSpPr>
        <p:spPr>
          <a:xfrm>
            <a:off x="360000" y="1098000"/>
            <a:ext cx="50400" cy="2592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"/>
          <p:cNvSpPr/>
          <p:nvPr/>
        </p:nvSpPr>
        <p:spPr>
          <a:xfrm>
            <a:off x="442800" y="1126800"/>
            <a:ext cx="3477600" cy="2534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SERVICE_TYPE=RC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ORQ / EIRQ / EIRQ_EXTRA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FC_EN=1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ECN=2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RQ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可指向私有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RQ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或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SRQ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70" name=""/>
          <p:cNvSpPr/>
          <p:nvPr/>
        </p:nvSpPr>
        <p:spPr>
          <a:xfrm>
            <a:off x="4284000" y="864000"/>
            <a:ext cx="3600000" cy="234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ffffff"/>
                </a:solidFill>
                <a:latin typeface="Noto Sans CJK SC"/>
              </a:rPr>
              <a:t>UD</a:t>
            </a:r>
            <a:endParaRPr b="1" lang="en-US" sz="19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71" name=""/>
          <p:cNvSpPr/>
          <p:nvPr/>
        </p:nvSpPr>
        <p:spPr>
          <a:xfrm>
            <a:off x="4284000" y="1098000"/>
            <a:ext cx="3600000" cy="2592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"/>
          <p:cNvSpPr/>
          <p:nvPr/>
        </p:nvSpPr>
        <p:spPr>
          <a:xfrm>
            <a:off x="4284000" y="1098000"/>
            <a:ext cx="50400" cy="2592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"/>
          <p:cNvSpPr/>
          <p:nvPr/>
        </p:nvSpPr>
        <p:spPr>
          <a:xfrm>
            <a:off x="4366800" y="1126800"/>
            <a:ext cx="3477600" cy="2534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SERVICE_TYPE=UD(3)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只分配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UAQ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QKEY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在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INIT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写入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报文接收校验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QKEY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74" name=""/>
          <p:cNvSpPr/>
          <p:nvPr/>
        </p:nvSpPr>
        <p:spPr>
          <a:xfrm>
            <a:off x="8208000" y="864000"/>
            <a:ext cx="3600000" cy="234000"/>
          </a:xfrm>
          <a:prstGeom prst="rect">
            <a:avLst/>
          </a:prstGeom>
          <a:solidFill>
            <a:srgbClr val="6a1b9a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ffffff"/>
                </a:solidFill>
                <a:latin typeface="Noto Sans CJK SC"/>
              </a:rPr>
              <a:t>URC</a:t>
            </a:r>
            <a:endParaRPr b="1" lang="en-US" sz="19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75" name=""/>
          <p:cNvSpPr/>
          <p:nvPr/>
        </p:nvSpPr>
        <p:spPr>
          <a:xfrm>
            <a:off x="8208000" y="1098000"/>
            <a:ext cx="3600000" cy="2592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"/>
          <p:cNvSpPr/>
          <p:nvPr/>
        </p:nvSpPr>
        <p:spPr>
          <a:xfrm>
            <a:off x="8208000" y="1098000"/>
            <a:ext cx="50400" cy="2592000"/>
          </a:xfrm>
          <a:prstGeom prst="rect">
            <a:avLst/>
          </a:prstGeom>
          <a:solidFill>
            <a:srgbClr val="6a1b9a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"/>
          <p:cNvSpPr/>
          <p:nvPr/>
        </p:nvSpPr>
        <p:spPr>
          <a:xfrm>
            <a:off x="8290800" y="1126800"/>
            <a:ext cx="3477600" cy="2534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SERVICE_TYPE=URC(6)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RSQ / RDSQ / DSQ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起始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RBSN/RPSN=0x1000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frag CQ + URC threshold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78" name=""/>
          <p:cNvSpPr/>
          <p:nvPr/>
        </p:nvSpPr>
        <p:spPr>
          <a:xfrm>
            <a:off x="432000" y="4392000"/>
            <a:ext cx="11232000" cy="612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URC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仍复用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RC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QP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生命周期，但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的运行时队列和异常完成路径不同。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02 · CREATE_QP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281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create_qp⑨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QPC_CREATE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与失败回滚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282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283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14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284" name=""/>
          <p:cNvSpPr/>
          <p:nvPr/>
        </p:nvSpPr>
        <p:spPr>
          <a:xfrm>
            <a:off x="378000" y="720000"/>
            <a:ext cx="486000" cy="306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写 </a:t>
            </a:r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context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285" name=""/>
          <p:cNvSpPr/>
          <p:nvPr/>
        </p:nvSpPr>
        <p:spPr>
          <a:xfrm>
            <a:off x="954000" y="72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fill_qpc()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后，必要时设置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URC CQC flag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，再把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512B QPC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写入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cmdq buffer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86" name=""/>
          <p:cNvSpPr/>
          <p:nvPr/>
        </p:nvSpPr>
        <p:spPr>
          <a:xfrm>
            <a:off x="378000" y="1080000"/>
            <a:ext cx="486000" cy="306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签名提交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287" name=""/>
          <p:cNvSpPr/>
          <p:nvPr/>
        </p:nvSpPr>
        <p:spPr>
          <a:xfrm>
            <a:off x="954000" y="108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QPC_CREATE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使用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signed CMQ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SQE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携带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QPC buffer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地址，签名覆盖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镜像。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88" name=""/>
          <p:cNvSpPr/>
          <p:nvPr/>
        </p:nvSpPr>
        <p:spPr>
          <a:xfrm>
            <a:off x="378000" y="1440000"/>
            <a:ext cx="486000" cy="306000"/>
          </a:xfrm>
          <a:prstGeom prst="rect">
            <a:avLst/>
          </a:prstGeom>
          <a:solidFill>
            <a:srgbClr val="2e7d32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设备建表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289" name=""/>
          <p:cNvSpPr/>
          <p:nvPr/>
        </p:nvSpPr>
        <p:spPr>
          <a:xfrm>
            <a:off x="954000" y="144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dev_cmq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保存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原始字节，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dev_nic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后续通过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QPN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查询它。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90" name=""/>
          <p:cNvSpPr/>
          <p:nvPr/>
        </p:nvSpPr>
        <p:spPr>
          <a:xfrm>
            <a:off x="378000" y="1800000"/>
            <a:ext cx="486000" cy="306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成功发布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291" name=""/>
          <p:cNvSpPr/>
          <p:nvPr/>
        </p:nvSpPr>
        <p:spPr>
          <a:xfrm>
            <a:off x="954000" y="180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URC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设置运行时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frag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信息，初始化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wr_id/ring_head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数组，写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dev.qp_table[qpn]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92" name=""/>
          <p:cNvSpPr/>
          <p:nvPr/>
        </p:nvSpPr>
        <p:spPr>
          <a:xfrm>
            <a:off x="378000" y="2160000"/>
            <a:ext cx="486000" cy="306000"/>
          </a:xfrm>
          <a:prstGeom prst="rect">
            <a:avLst/>
          </a:prstGeom>
          <a:solidFill>
            <a:srgbClr val="c62828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失败回滚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293" name=""/>
          <p:cNvSpPr/>
          <p:nvPr/>
        </p:nvSpPr>
        <p:spPr>
          <a:xfrm>
            <a:off x="954000" y="216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free_buffers → drop_frags(URC) → free QPN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；不发布半成品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94" name=""/>
          <p:cNvSpPr/>
          <p:nvPr/>
        </p:nvSpPr>
        <p:spPr>
          <a:xfrm>
            <a:off x="7200000" y="720000"/>
            <a:ext cx="4608000" cy="1872000"/>
          </a:xfrm>
          <a:prstGeom prst="rect">
            <a:avLst/>
          </a:prstGeom>
          <a:solidFill>
            <a:srgbClr val="172b4d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fill_qpc(dev);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if (urc) set_cqc_urc(...);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hw_qpc_cmd(QPC_CREATE, full=1);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if (!status.ok()) {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  </a:t>
            </a:r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free_buffers(dev); drop_frags(dev);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  </a:t>
            </a:r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dev.qp_ids.free(qpn);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}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</p:txBody>
      </p:sp>
      <p:sp>
        <p:nvSpPr>
          <p:cNvPr id="295" name=""/>
          <p:cNvSpPr/>
          <p:nvPr/>
        </p:nvSpPr>
        <p:spPr>
          <a:xfrm>
            <a:off x="7200000" y="2682000"/>
            <a:ext cx="4608000" cy="810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rdma_drv_qp.sv:260-303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QPC_CREATE 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失败不能留下 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QPN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DMA 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或 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context 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泄漏。</a:t>
            </a:r>
            <a:endParaRPr b="0" lang="en-US" sz="13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296" name=""/>
          <p:cNvSpPr/>
          <p:nvPr/>
        </p:nvSpPr>
        <p:spPr>
          <a:xfrm>
            <a:off x="396000" y="4356000"/>
            <a:ext cx="11340000" cy="594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讲解重点：先说输入和所有权，再说写入了哪块内存，最后说失败时谁负责回滚。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03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状态与 </a:t>
            </a:r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QPC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299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QPC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状态字段：软件状态与硬件编码不是一一对应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00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301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15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302" name=""/>
          <p:cNvSpPr/>
          <p:nvPr/>
        </p:nvSpPr>
        <p:spPr>
          <a:xfrm>
            <a:off x="360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软件状态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03" name=""/>
          <p:cNvSpPr/>
          <p:nvPr/>
        </p:nvSpPr>
        <p:spPr>
          <a:xfrm>
            <a:off x="3231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QP_ST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04" name=""/>
          <p:cNvSpPr/>
          <p:nvPr/>
        </p:nvSpPr>
        <p:spPr>
          <a:xfrm>
            <a:off x="6102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设备行为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05" name=""/>
          <p:cNvSpPr/>
          <p:nvPr/>
        </p:nvSpPr>
        <p:spPr>
          <a:xfrm>
            <a:off x="8973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当前实现注意点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06" name=""/>
          <p:cNvSpPr/>
          <p:nvPr/>
        </p:nvSpPr>
        <p:spPr>
          <a:xfrm>
            <a:off x="360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RESET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07" name=""/>
          <p:cNvSpPr/>
          <p:nvPr/>
        </p:nvSpPr>
        <p:spPr>
          <a:xfrm>
            <a:off x="3231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无独立编码；映射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4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08" name=""/>
          <p:cNvSpPr/>
          <p:nvPr/>
        </p:nvSpPr>
        <p:spPr>
          <a:xfrm>
            <a:off x="6102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不接收、不发送；实际复用走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destroy/recreate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09" name=""/>
          <p:cNvSpPr/>
          <p:nvPr/>
        </p:nvSpPr>
        <p:spPr>
          <a:xfrm>
            <a:off x="8973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 context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删除后不存在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10" name=""/>
          <p:cNvSpPr/>
          <p:nvPr/>
        </p:nvSpPr>
        <p:spPr>
          <a:xfrm>
            <a:off x="360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INIT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11" name=""/>
          <p:cNvSpPr/>
          <p:nvPr/>
        </p:nvSpPr>
        <p:spPr>
          <a:xfrm>
            <a:off x="3231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1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12" name=""/>
          <p:cNvSpPr/>
          <p:nvPr/>
        </p:nvSpPr>
        <p:spPr>
          <a:xfrm>
            <a:off x="6102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不取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SQE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；入站丢弃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13" name=""/>
          <p:cNvSpPr/>
          <p:nvPr/>
        </p:nvSpPr>
        <p:spPr>
          <a:xfrm>
            <a:off x="8973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写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QKEY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或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access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14" name=""/>
          <p:cNvSpPr/>
          <p:nvPr/>
        </p:nvSpPr>
        <p:spPr>
          <a:xfrm>
            <a:off x="360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RTR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15" name=""/>
          <p:cNvSpPr/>
          <p:nvPr/>
        </p:nvSpPr>
        <p:spPr>
          <a:xfrm>
            <a:off x="3231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2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16" name=""/>
          <p:cNvSpPr/>
          <p:nvPr/>
        </p:nvSpPr>
        <p:spPr>
          <a:xfrm>
            <a:off x="6102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可接收；不取新的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17" name=""/>
          <p:cNvSpPr/>
          <p:nvPr/>
        </p:nvSpPr>
        <p:spPr>
          <a:xfrm>
            <a:off x="8973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初始化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expected_psn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18" name=""/>
          <p:cNvSpPr/>
          <p:nvPr/>
        </p:nvSpPr>
        <p:spPr>
          <a:xfrm>
            <a:off x="360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RTS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19" name=""/>
          <p:cNvSpPr/>
          <p:nvPr/>
        </p:nvSpPr>
        <p:spPr>
          <a:xfrm>
            <a:off x="3231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3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20" name=""/>
          <p:cNvSpPr/>
          <p:nvPr/>
        </p:nvSpPr>
        <p:spPr>
          <a:xfrm>
            <a:off x="6102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正常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drain SQ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、处理请求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21" name=""/>
          <p:cNvSpPr/>
          <p:nvPr/>
        </p:nvSpPr>
        <p:spPr>
          <a:xfrm>
            <a:off x="8973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初始化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send_psn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22" name=""/>
          <p:cNvSpPr/>
          <p:nvPr/>
        </p:nvSpPr>
        <p:spPr>
          <a:xfrm>
            <a:off x="360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SQD/SQE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23" name=""/>
          <p:cNvSpPr/>
          <p:nvPr/>
        </p:nvSpPr>
        <p:spPr>
          <a:xfrm>
            <a:off x="3231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5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24" name=""/>
          <p:cNvSpPr/>
          <p:nvPr/>
        </p:nvSpPr>
        <p:spPr>
          <a:xfrm>
            <a:off x="6102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暂停；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SQD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允许入站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25" name=""/>
          <p:cNvSpPr/>
          <p:nvPr/>
        </p:nvSpPr>
        <p:spPr>
          <a:xfrm>
            <a:off x="8973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SQE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未独立建模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26" name=""/>
          <p:cNvSpPr/>
          <p:nvPr/>
        </p:nvSpPr>
        <p:spPr>
          <a:xfrm>
            <a:off x="360000" y="365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ERR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27" name=""/>
          <p:cNvSpPr/>
          <p:nvPr/>
        </p:nvSpPr>
        <p:spPr>
          <a:xfrm>
            <a:off x="3231000" y="365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4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28" name=""/>
          <p:cNvSpPr/>
          <p:nvPr/>
        </p:nvSpPr>
        <p:spPr>
          <a:xfrm>
            <a:off x="6102000" y="365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flush SQ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；入站静默丢弃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29" name=""/>
          <p:cNvSpPr/>
          <p:nvPr/>
        </p:nvSpPr>
        <p:spPr>
          <a:xfrm>
            <a:off x="8973000" y="365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终止当前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protocol epoch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30" name=""/>
          <p:cNvSpPr/>
          <p:nvPr/>
        </p:nvSpPr>
        <p:spPr>
          <a:xfrm>
            <a:off x="414000" y="5580000"/>
            <a:ext cx="11376000" cy="432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不存在时设备查询可返回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0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；这个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0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不是当前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driver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的有效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RESET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编码。</a:t>
            </a:r>
            <a:endParaRPr b="1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03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状态与 </a:t>
            </a:r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QPC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333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状态迁移①：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RESET → INIT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34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335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16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336" name=""/>
          <p:cNvSpPr/>
          <p:nvPr/>
        </p:nvSpPr>
        <p:spPr>
          <a:xfrm>
            <a:off x="378000" y="720000"/>
            <a:ext cx="486000" cy="306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控制入口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337" name=""/>
          <p:cNvSpPr/>
          <p:nvPr/>
        </p:nvSpPr>
        <p:spPr>
          <a:xfrm>
            <a:off x="954000" y="72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rdma_ctrl_agent::modify()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构造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M_STATE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；连接流程通常对两端依次执行。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38" name=""/>
          <p:cNvSpPr/>
          <p:nvPr/>
        </p:nvSpPr>
        <p:spPr>
          <a:xfrm>
            <a:off x="378000" y="1080000"/>
            <a:ext cx="486000" cy="306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UD </a:t>
            </a:r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分支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339" name=""/>
          <p:cNvSpPr/>
          <p:nvPr/>
        </p:nvSpPr>
        <p:spPr>
          <a:xfrm>
            <a:off x="954000" y="108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追加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M_QKEY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，把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qp.qkey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写入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QPC_UD_QKEY_H/L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40" name=""/>
          <p:cNvSpPr/>
          <p:nvPr/>
        </p:nvSpPr>
        <p:spPr>
          <a:xfrm>
            <a:off x="378000" y="1440000"/>
            <a:ext cx="486000" cy="306000"/>
          </a:xfrm>
          <a:prstGeom prst="rect">
            <a:avLst/>
          </a:prstGeom>
          <a:solidFill>
            <a:srgbClr val="2e7d32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RC/URC </a:t>
            </a:r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分支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341" name=""/>
          <p:cNvSpPr/>
          <p:nvPr/>
        </p:nvSpPr>
        <p:spPr>
          <a:xfrm>
            <a:off x="954000" y="144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追加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M_ACCESS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，把远端读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写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原子权限写入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QPC_QP_ACCESS_FLAG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42" name=""/>
          <p:cNvSpPr/>
          <p:nvPr/>
        </p:nvSpPr>
        <p:spPr>
          <a:xfrm>
            <a:off x="378000" y="1800000"/>
            <a:ext cx="486000" cy="306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CMQ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343" name=""/>
          <p:cNvSpPr/>
          <p:nvPr/>
        </p:nvSpPr>
        <p:spPr>
          <a:xfrm>
            <a:off x="954000" y="180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INIT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只更新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状态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属性，不需要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INIT→RTR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那样的完整签名修改。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44" name=""/>
          <p:cNvSpPr/>
          <p:nvPr/>
        </p:nvSpPr>
        <p:spPr>
          <a:xfrm>
            <a:off x="378000" y="2160000"/>
            <a:ext cx="486000" cy="306000"/>
          </a:xfrm>
          <a:prstGeom prst="rect">
            <a:avLst/>
          </a:prstGeom>
          <a:solidFill>
            <a:srgbClr val="c62828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准入结果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345" name=""/>
          <p:cNvSpPr/>
          <p:nvPr/>
        </p:nvSpPr>
        <p:spPr>
          <a:xfrm>
            <a:off x="954000" y="216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软件状态变为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INIT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，但设备仍不接受业务报文。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46" name=""/>
          <p:cNvSpPr/>
          <p:nvPr/>
        </p:nvSpPr>
        <p:spPr>
          <a:xfrm>
            <a:off x="7200000" y="720000"/>
            <a:ext cx="4608000" cy="1872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800" spc="-1" strike="noStrike">
                <a:solidFill>
                  <a:srgbClr val="1565c0"/>
                </a:solidFill>
                <a:latin typeface="Noto Sans CJK SC"/>
              </a:rPr>
              <a:t>本页以状态</a:t>
            </a:r>
            <a:r>
              <a:rPr b="1" lang="en-US" sz="1800" spc="-1" strike="noStrike">
                <a:solidFill>
                  <a:srgbClr val="1565c0"/>
                </a:solidFill>
                <a:latin typeface="Noto Sans CJK SC"/>
              </a:rPr>
              <a:t>/</a:t>
            </a:r>
            <a:r>
              <a:rPr b="1" lang="zh-CN" sz="1800" spc="-1" strike="noStrike">
                <a:solidFill>
                  <a:srgbClr val="1565c0"/>
                </a:solidFill>
                <a:latin typeface="Noto Sans CJK SC"/>
              </a:rPr>
              <a:t>字段动作表为主</a:t>
            </a:r>
            <a:endParaRPr b="1" lang="en-US" sz="1800" spc="-1" strike="noStrike">
              <a:solidFill>
                <a:srgbClr val="1565c0"/>
              </a:solidFill>
              <a:latin typeface="Noto Sans CJK SC"/>
            </a:endParaRPr>
          </a:p>
          <a:p>
            <a:pPr algn="ctr"/>
            <a:endParaRPr b="1" lang="en-US" sz="1800" spc="-1" strike="noStrike">
              <a:solidFill>
                <a:srgbClr val="1565c0"/>
              </a:solidFill>
              <a:latin typeface="Noto Sans CJK SC"/>
            </a:endParaRPr>
          </a:p>
          <a:p>
            <a:pPr algn="ctr"/>
            <a:r>
              <a:rPr b="1" lang="zh-CN" sz="1800" spc="-1" strike="noStrike">
                <a:solidFill>
                  <a:srgbClr val="1565c0"/>
                </a:solidFill>
                <a:latin typeface="Noto Sans CJK SC"/>
              </a:rPr>
              <a:t>关键代码入口见右下角引用。</a:t>
            </a:r>
            <a:endParaRPr b="1" lang="en-US" sz="1800" spc="-1" strike="noStrike">
              <a:solidFill>
                <a:srgbClr val="1565c0"/>
              </a:solidFill>
              <a:latin typeface="Noto Sans CJK SC"/>
            </a:endParaRPr>
          </a:p>
        </p:txBody>
      </p:sp>
      <p:sp>
        <p:nvSpPr>
          <p:cNvPr id="347" name=""/>
          <p:cNvSpPr/>
          <p:nvPr/>
        </p:nvSpPr>
        <p:spPr>
          <a:xfrm>
            <a:off x="7200000" y="2682000"/>
            <a:ext cx="4608000" cy="810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rdma_ctrl_agent.sv:230-240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rdma_drv_qp.sv:647-664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3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48" name=""/>
          <p:cNvSpPr/>
          <p:nvPr/>
        </p:nvSpPr>
        <p:spPr>
          <a:xfrm>
            <a:off x="396000" y="4356000"/>
            <a:ext cx="11340000" cy="594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讲解重点：先说输入和所有权，再说写入了哪块内存，最后说失败时谁负责回滚。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03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状态与 </a:t>
            </a:r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QPC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351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状态迁移②：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INIT → RTR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52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353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17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354" name=""/>
          <p:cNvSpPr/>
          <p:nvPr/>
        </p:nvSpPr>
        <p:spPr>
          <a:xfrm>
            <a:off x="360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写入项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55" name=""/>
          <p:cNvSpPr/>
          <p:nvPr/>
        </p:nvSpPr>
        <p:spPr>
          <a:xfrm>
            <a:off x="3231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QPC/</a:t>
            </a:r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属性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56" name=""/>
          <p:cNvSpPr/>
          <p:nvPr/>
        </p:nvSpPr>
        <p:spPr>
          <a:xfrm>
            <a:off x="6102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来源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57" name=""/>
          <p:cNvSpPr/>
          <p:nvPr/>
        </p:nvSpPr>
        <p:spPr>
          <a:xfrm>
            <a:off x="8973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设备运行时变化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58" name=""/>
          <p:cNvSpPr/>
          <p:nvPr/>
        </p:nvSpPr>
        <p:spPr>
          <a:xfrm>
            <a:off x="360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对端身份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59" name=""/>
          <p:cNvSpPr/>
          <p:nvPr/>
        </p:nvSpPr>
        <p:spPr>
          <a:xfrm>
            <a:off x="3231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DST_QPN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60" name=""/>
          <p:cNvSpPr/>
          <p:nvPr/>
        </p:nvSpPr>
        <p:spPr>
          <a:xfrm>
            <a:off x="6102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peer.id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61" name=""/>
          <p:cNvSpPr/>
          <p:nvPr/>
        </p:nvSpPr>
        <p:spPr>
          <a:xfrm>
            <a:off x="8973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确定接收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响应对象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62" name=""/>
          <p:cNvSpPr/>
          <p:nvPr/>
        </p:nvSpPr>
        <p:spPr>
          <a:xfrm>
            <a:off x="360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接收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PSN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63" name=""/>
          <p:cNvSpPr/>
          <p:nvPr/>
        </p:nvSpPr>
        <p:spPr>
          <a:xfrm>
            <a:off x="3231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EPSN_REQ / EIRQ_PSN_MAX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64" name=""/>
          <p:cNvSpPr/>
          <p:nvPr/>
        </p:nvSpPr>
        <p:spPr>
          <a:xfrm>
            <a:off x="6102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rq_psn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65" name=""/>
          <p:cNvSpPr/>
          <p:nvPr/>
        </p:nvSpPr>
        <p:spPr>
          <a:xfrm>
            <a:off x="8973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qpc_written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初始化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expected_psn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66" name=""/>
          <p:cNvSpPr/>
          <p:nvPr/>
        </p:nvSpPr>
        <p:spPr>
          <a:xfrm>
            <a:off x="360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路径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67" name=""/>
          <p:cNvSpPr/>
          <p:nvPr/>
        </p:nvSpPr>
        <p:spPr>
          <a:xfrm>
            <a:off x="3231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PMTU / DMAC / dest_ip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68" name=""/>
          <p:cNvSpPr/>
          <p:nvPr/>
        </p:nvSpPr>
        <p:spPr>
          <a:xfrm>
            <a:off x="6102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qp.mtu / peer.mac / AV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69" name=""/>
          <p:cNvSpPr/>
          <p:nvPr/>
        </p:nvSpPr>
        <p:spPr>
          <a:xfrm>
            <a:off x="8973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决定分片和外层投影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70" name=""/>
          <p:cNvSpPr/>
          <p:nvPr/>
        </p:nvSpPr>
        <p:spPr>
          <a:xfrm>
            <a:off x="360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RNR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71" name=""/>
          <p:cNvSpPr/>
          <p:nvPr/>
        </p:nvSpPr>
        <p:spPr>
          <a:xfrm>
            <a:off x="3231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LOCAL_RNR_CODE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72" name=""/>
          <p:cNvSpPr/>
          <p:nvPr/>
        </p:nvSpPr>
        <p:spPr>
          <a:xfrm>
            <a:off x="6102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env.cfg.min_rnr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73" name=""/>
          <p:cNvSpPr/>
          <p:nvPr/>
        </p:nvSpPr>
        <p:spPr>
          <a:xfrm>
            <a:off x="8973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无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RQE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时回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RNR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或等待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74" name=""/>
          <p:cNvSpPr/>
          <p:nvPr/>
        </p:nvSpPr>
        <p:spPr>
          <a:xfrm>
            <a:off x="360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状态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75" name=""/>
          <p:cNvSpPr/>
          <p:nvPr/>
        </p:nvSpPr>
        <p:spPr>
          <a:xfrm>
            <a:off x="3231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QP_ST=2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76" name=""/>
          <p:cNvSpPr/>
          <p:nvPr/>
        </p:nvSpPr>
        <p:spPr>
          <a:xfrm>
            <a:off x="6102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qpc_state(RTR)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77" name=""/>
          <p:cNvSpPr/>
          <p:nvPr/>
        </p:nvSpPr>
        <p:spPr>
          <a:xfrm>
            <a:off x="8973000" y="3168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接收准入打开，发送仍未启动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78" name=""/>
          <p:cNvSpPr/>
          <p:nvPr/>
        </p:nvSpPr>
        <p:spPr>
          <a:xfrm>
            <a:off x="414000" y="5580000"/>
            <a:ext cx="11376000" cy="432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INIT→RTR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是完整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修改（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full=1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），因为远端路径和接收运行态同时建立。</a:t>
            </a:r>
            <a:endParaRPr b="1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03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状态与 </a:t>
            </a:r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QPC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381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状态迁移③：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RTR → RTS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82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383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18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384" name=""/>
          <p:cNvSpPr/>
          <p:nvPr/>
        </p:nvSpPr>
        <p:spPr>
          <a:xfrm>
            <a:off x="360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写入项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85" name=""/>
          <p:cNvSpPr/>
          <p:nvPr/>
        </p:nvSpPr>
        <p:spPr>
          <a:xfrm>
            <a:off x="3231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QPC </a:t>
            </a:r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字段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86" name=""/>
          <p:cNvSpPr/>
          <p:nvPr/>
        </p:nvSpPr>
        <p:spPr>
          <a:xfrm>
            <a:off x="6102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作用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87" name=""/>
          <p:cNvSpPr/>
          <p:nvPr/>
        </p:nvSpPr>
        <p:spPr>
          <a:xfrm>
            <a:off x="8973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设备结果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388" name=""/>
          <p:cNvSpPr/>
          <p:nvPr/>
        </p:nvSpPr>
        <p:spPr>
          <a:xfrm>
            <a:off x="360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发送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PSN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89" name=""/>
          <p:cNvSpPr/>
          <p:nvPr/>
        </p:nvSpPr>
        <p:spPr>
          <a:xfrm>
            <a:off x="3231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CUR_SQ_PSN / LAST_READ_PSN / RETRY_PSN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90" name=""/>
          <p:cNvSpPr/>
          <p:nvPr/>
        </p:nvSpPr>
        <p:spPr>
          <a:xfrm>
            <a:off x="6102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定义首个发送序号和重传边界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91" name=""/>
          <p:cNvSpPr/>
          <p:nvPr/>
        </p:nvSpPr>
        <p:spPr>
          <a:xfrm>
            <a:off x="8973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初始化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send_psn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92" name=""/>
          <p:cNvSpPr/>
          <p:nvPr/>
        </p:nvSpPr>
        <p:spPr>
          <a:xfrm>
            <a:off x="360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超时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93" name=""/>
          <p:cNvSpPr/>
          <p:nvPr/>
        </p:nvSpPr>
        <p:spPr>
          <a:xfrm>
            <a:off x="3231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RTO_CODE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94" name=""/>
          <p:cNvSpPr/>
          <p:nvPr/>
        </p:nvSpPr>
        <p:spPr>
          <a:xfrm>
            <a:off x="6102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响应超时指数映射为硬件编码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95" name=""/>
          <p:cNvSpPr/>
          <p:nvPr/>
        </p:nvSpPr>
        <p:spPr>
          <a:xfrm>
            <a:off x="8973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控制请求重试触发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96" name=""/>
          <p:cNvSpPr/>
          <p:nvPr/>
        </p:nvSpPr>
        <p:spPr>
          <a:xfrm>
            <a:off x="360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重试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97" name=""/>
          <p:cNvSpPr/>
          <p:nvPr/>
        </p:nvSpPr>
        <p:spPr>
          <a:xfrm>
            <a:off x="3231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PSN_RETRY_TH / RNR_RETRY_TH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98" name=""/>
          <p:cNvSpPr/>
          <p:nvPr/>
        </p:nvSpPr>
        <p:spPr>
          <a:xfrm>
            <a:off x="6102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序列错误与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RNR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的最大重试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399" name=""/>
          <p:cNvSpPr/>
          <p:nvPr/>
        </p:nvSpPr>
        <p:spPr>
          <a:xfrm>
            <a:off x="8973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耗尽后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CQE/ERR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00" name=""/>
          <p:cNvSpPr/>
          <p:nvPr/>
        </p:nvSpPr>
        <p:spPr>
          <a:xfrm>
            <a:off x="360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状态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01" name=""/>
          <p:cNvSpPr/>
          <p:nvPr/>
        </p:nvSpPr>
        <p:spPr>
          <a:xfrm>
            <a:off x="3231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QP_ST=3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02" name=""/>
          <p:cNvSpPr/>
          <p:nvPr/>
        </p:nvSpPr>
        <p:spPr>
          <a:xfrm>
            <a:off x="6102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RTS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03" name=""/>
          <p:cNvSpPr/>
          <p:nvPr/>
        </p:nvSpPr>
        <p:spPr>
          <a:xfrm>
            <a:off x="8973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drain_sq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允许读取新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04" name=""/>
          <p:cNvSpPr/>
          <p:nvPr/>
        </p:nvSpPr>
        <p:spPr>
          <a:xfrm>
            <a:off x="414000" y="5580000"/>
            <a:ext cx="11376000" cy="432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RTR→RTS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同样是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full QPC modify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；之后才是可发送状态。</a:t>
            </a:r>
            <a:endParaRPr b="1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04 · SQ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数据面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407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RTS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正常运行：一次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SEND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的最短路径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08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409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19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410" name=""/>
          <p:cNvSpPr/>
          <p:nvPr/>
        </p:nvSpPr>
        <p:spPr>
          <a:xfrm>
            <a:off x="360000" y="1800000"/>
            <a:ext cx="1800000" cy="450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post_send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11" name=""/>
          <p:cNvSpPr/>
          <p:nvPr/>
        </p:nvSpPr>
        <p:spPr>
          <a:xfrm>
            <a:off x="218520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412" name=""/>
          <p:cNvSpPr/>
          <p:nvPr/>
        </p:nvSpPr>
        <p:spPr>
          <a:xfrm>
            <a:off x="2289600" y="1800000"/>
            <a:ext cx="1800000" cy="450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写 </a:t>
            </a:r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WQE / SGB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13" name=""/>
          <p:cNvSpPr/>
          <p:nvPr/>
        </p:nvSpPr>
        <p:spPr>
          <a:xfrm>
            <a:off x="411480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414" name=""/>
          <p:cNvSpPr/>
          <p:nvPr/>
        </p:nvSpPr>
        <p:spPr>
          <a:xfrm>
            <a:off x="4219200" y="1800000"/>
            <a:ext cx="1800000" cy="450000"/>
          </a:xfrm>
          <a:prstGeom prst="rect">
            <a:avLst/>
          </a:prstGeom>
          <a:solidFill>
            <a:srgbClr val="2e7d32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更新 </a:t>
            </a:r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head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15" name=""/>
          <p:cNvSpPr/>
          <p:nvPr/>
        </p:nvSpPr>
        <p:spPr>
          <a:xfrm>
            <a:off x="604440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416" name=""/>
          <p:cNvSpPr/>
          <p:nvPr/>
        </p:nvSpPr>
        <p:spPr>
          <a:xfrm>
            <a:off x="6148800" y="1800000"/>
            <a:ext cx="1800000" cy="450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SQ doorbell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17" name=""/>
          <p:cNvSpPr/>
          <p:nvPr/>
        </p:nvSpPr>
        <p:spPr>
          <a:xfrm>
            <a:off x="797400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418" name=""/>
          <p:cNvSpPr/>
          <p:nvPr/>
        </p:nvSpPr>
        <p:spPr>
          <a:xfrm>
            <a:off x="8078400" y="1800000"/>
            <a:ext cx="1800000" cy="450000"/>
          </a:xfrm>
          <a:prstGeom prst="rect">
            <a:avLst/>
          </a:prstGeom>
          <a:solidFill>
            <a:srgbClr val="6a1b9a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dev drain_sq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19" name=""/>
          <p:cNvSpPr/>
          <p:nvPr/>
        </p:nvSpPr>
        <p:spPr>
          <a:xfrm>
            <a:off x="990360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420" name=""/>
          <p:cNvSpPr/>
          <p:nvPr/>
        </p:nvSpPr>
        <p:spPr>
          <a:xfrm>
            <a:off x="10008000" y="1800000"/>
            <a:ext cx="1800000" cy="450000"/>
          </a:xfrm>
          <a:prstGeom prst="rect">
            <a:avLst/>
          </a:prstGeom>
          <a:solidFill>
            <a:srgbClr val="c62828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encode / wire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21" name=""/>
          <p:cNvSpPr/>
          <p:nvPr/>
        </p:nvSpPr>
        <p:spPr>
          <a:xfrm>
            <a:off x="450000" y="810000"/>
            <a:ext cx="11268000" cy="540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把每个节点理解成一次“资源</a:t>
            </a:r>
            <a:r>
              <a:rPr b="1" lang="en-US" sz="17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状态</a:t>
            </a:r>
            <a:r>
              <a:rPr b="1" lang="en-US" sz="17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数据所有权变化”，不要只把它当成函数调用顺序。</a:t>
            </a:r>
            <a:endParaRPr b="1" lang="en-US" sz="17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22" name=""/>
          <p:cNvSpPr/>
          <p:nvPr/>
        </p:nvSpPr>
        <p:spPr>
          <a:xfrm>
            <a:off x="450000" y="2916000"/>
            <a:ext cx="11268000" cy="1206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post_send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只负责构造队列项；协议分段、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PSN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ACK/NAK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和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CQE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由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device NIC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数据路径完成。</a:t>
            </a:r>
            <a:endParaRPr b="0" lang="en-US" sz="17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04 · SQ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数据面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425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post_send①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：状态、队列满和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SGE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检查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26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427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20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428" name=""/>
          <p:cNvSpPr/>
          <p:nvPr/>
        </p:nvSpPr>
        <p:spPr>
          <a:xfrm>
            <a:off x="378000" y="720000"/>
            <a:ext cx="486000" cy="306000"/>
          </a:xfrm>
          <a:prstGeom prst="rect">
            <a:avLst/>
          </a:prstGeom>
          <a:solidFill>
            <a:srgbClr val="c62828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状态门控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429" name=""/>
          <p:cNvSpPr/>
          <p:nvPr/>
        </p:nvSpPr>
        <p:spPr>
          <a:xfrm>
            <a:off x="954000" y="72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RESET/INIT/RTR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直接返回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INVALID_STATE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RTS/SQD/ERR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可进入后续分支。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30" name=""/>
          <p:cNvSpPr/>
          <p:nvPr/>
        </p:nvSpPr>
        <p:spPr>
          <a:xfrm>
            <a:off x="378000" y="1080000"/>
            <a:ext cx="486000" cy="306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队列满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431" name=""/>
          <p:cNvSpPr/>
          <p:nvPr/>
        </p:nvSpPr>
        <p:spPr>
          <a:xfrm>
            <a:off x="954000" y="108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sq_head - sq_tail &gt;= sq_depth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返回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QUEUE_FULL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32" name=""/>
          <p:cNvSpPr/>
          <p:nvPr/>
        </p:nvSpPr>
        <p:spPr>
          <a:xfrm>
            <a:off x="378000" y="1440000"/>
            <a:ext cx="486000" cy="306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统计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433" name=""/>
          <p:cNvSpPr/>
          <p:nvPr/>
        </p:nvSpPr>
        <p:spPr>
          <a:xfrm>
            <a:off x="954000" y="144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遍历非零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SGE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，计算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sge_num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和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payload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总长度。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34" name=""/>
          <p:cNvSpPr/>
          <p:nvPr/>
        </p:nvSpPr>
        <p:spPr>
          <a:xfrm>
            <a:off x="378000" y="1800000"/>
            <a:ext cx="486000" cy="306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能力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435" name=""/>
          <p:cNvSpPr/>
          <p:nvPr/>
        </p:nvSpPr>
        <p:spPr>
          <a:xfrm>
            <a:off x="954000" y="180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payload ≤ 0x8000_0000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且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sge_num ≤ max_send_sge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36" name=""/>
          <p:cNvSpPr/>
          <p:nvPr/>
        </p:nvSpPr>
        <p:spPr>
          <a:xfrm>
            <a:off x="378000" y="2160000"/>
            <a:ext cx="486000" cy="306000"/>
          </a:xfrm>
          <a:prstGeom prst="rect">
            <a:avLst/>
          </a:prstGeom>
          <a:solidFill>
            <a:srgbClr val="2e7d32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inline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437" name=""/>
          <p:cNvSpPr/>
          <p:nvPr/>
        </p:nvSpPr>
        <p:spPr>
          <a:xfrm>
            <a:off x="954000" y="216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inline_data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且非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atomic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时，检查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payload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与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max_inline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38" name=""/>
          <p:cNvSpPr/>
          <p:nvPr/>
        </p:nvSpPr>
        <p:spPr>
          <a:xfrm>
            <a:off x="7200000" y="720000"/>
            <a:ext cx="4608000" cy="1872000"/>
          </a:xfrm>
          <a:prstGeom prst="rect">
            <a:avLst/>
          </a:prstGeom>
          <a:solidFill>
            <a:srgbClr val="172b4d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if (state inside {RESET, INIT, RTR}) reject;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if (sq_head - sq_tail &gt;= depth) QUEUE_FULL;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foreach (wr.sges[i])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  <a:p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  </a:t>
            </a:r>
            <a:r>
              <a:rPr b="0" lang="en-US" sz="1200" spc="-1" strike="noStrike">
                <a:solidFill>
                  <a:srgbClr val="e6f1ff"/>
                </a:solidFill>
                <a:latin typeface="Noto Sans Mono CJK SC"/>
              </a:rPr>
              <a:t>if (length != 0) { sge_num++; payload += length; }</a:t>
            </a:r>
            <a:endParaRPr b="0" lang="en-US" sz="1200" spc="-1" strike="noStrike">
              <a:solidFill>
                <a:srgbClr val="e6f1ff"/>
              </a:solidFill>
              <a:latin typeface="Noto Sans Mono CJK SC"/>
            </a:endParaRPr>
          </a:p>
        </p:txBody>
      </p:sp>
      <p:sp>
        <p:nvSpPr>
          <p:cNvPr id="439" name=""/>
          <p:cNvSpPr/>
          <p:nvPr/>
        </p:nvSpPr>
        <p:spPr>
          <a:xfrm>
            <a:off x="7200000" y="2682000"/>
            <a:ext cx="4608000" cy="810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rdma_drv_wr.sv:210-258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3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40" name=""/>
          <p:cNvSpPr/>
          <p:nvPr/>
        </p:nvSpPr>
        <p:spPr>
          <a:xfrm>
            <a:off x="396000" y="4356000"/>
            <a:ext cx="11340000" cy="594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讲解重点：先说输入和所有权，再说写入了哪块内存，最后说失败时谁负责回滚。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04 · SQ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数据面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443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post_send②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inline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、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WQE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内嵌和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SGB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选择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44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445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21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446" name=""/>
          <p:cNvSpPr/>
          <p:nvPr/>
        </p:nvSpPr>
        <p:spPr>
          <a:xfrm>
            <a:off x="360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条件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47" name=""/>
          <p:cNvSpPr/>
          <p:nvPr/>
        </p:nvSpPr>
        <p:spPr>
          <a:xfrm>
            <a:off x="3231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数据去向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48" name=""/>
          <p:cNvSpPr/>
          <p:nvPr/>
        </p:nvSpPr>
        <p:spPr>
          <a:xfrm>
            <a:off x="6102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WQE </a:t>
            </a:r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标记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49" name=""/>
          <p:cNvSpPr/>
          <p:nvPr/>
        </p:nvSpPr>
        <p:spPr>
          <a:xfrm>
            <a:off x="8973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典型场景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50" name=""/>
          <p:cNvSpPr/>
          <p:nvPr/>
        </p:nvSpPr>
        <p:spPr>
          <a:xfrm>
            <a:off x="360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inline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且小于内嵌上限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51" name=""/>
          <p:cNvSpPr/>
          <p:nvPr/>
        </p:nvSpPr>
        <p:spPr>
          <a:xfrm>
            <a:off x="3231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写入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WQE payload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区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52" name=""/>
          <p:cNvSpPr/>
          <p:nvPr/>
        </p:nvSpPr>
        <p:spPr>
          <a:xfrm>
            <a:off x="6102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INLINE_LOCAL_QPC_RD=1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53" name=""/>
          <p:cNvSpPr/>
          <p:nvPr/>
        </p:nvSpPr>
        <p:spPr>
          <a:xfrm>
            <a:off x="8973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短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SEND /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小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WRITE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54" name=""/>
          <p:cNvSpPr/>
          <p:nvPr/>
        </p:nvSpPr>
        <p:spPr>
          <a:xfrm>
            <a:off x="360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RC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非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atomic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，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SGE &gt; 2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55" name=""/>
          <p:cNvSpPr/>
          <p:nvPr/>
        </p:nvSpPr>
        <p:spPr>
          <a:xfrm>
            <a:off x="3231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写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 SGB slot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56" name=""/>
          <p:cNvSpPr/>
          <p:nvPr/>
        </p:nvSpPr>
        <p:spPr>
          <a:xfrm>
            <a:off x="6102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SGB_PA + SIGN_EN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57" name=""/>
          <p:cNvSpPr/>
          <p:nvPr/>
        </p:nvSpPr>
        <p:spPr>
          <a:xfrm>
            <a:off x="8973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多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SGE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描述符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58" name=""/>
          <p:cNvSpPr/>
          <p:nvPr/>
        </p:nvSpPr>
        <p:spPr>
          <a:xfrm>
            <a:off x="360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UD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59" name=""/>
          <p:cNvSpPr/>
          <p:nvPr/>
        </p:nvSpPr>
        <p:spPr>
          <a:xfrm>
            <a:off x="3231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使用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 SGB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（即使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SGE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较少）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60" name=""/>
          <p:cNvSpPr/>
          <p:nvPr/>
        </p:nvSpPr>
        <p:spPr>
          <a:xfrm>
            <a:off x="6102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UD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固定扩展路径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61" name=""/>
          <p:cNvSpPr/>
          <p:nvPr/>
        </p:nvSpPr>
        <p:spPr>
          <a:xfrm>
            <a:off x="8973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UD SEND/GRH/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目的字段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62" name=""/>
          <p:cNvSpPr/>
          <p:nvPr/>
        </p:nvSpPr>
        <p:spPr>
          <a:xfrm>
            <a:off x="360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atomic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63" name=""/>
          <p:cNvSpPr/>
          <p:nvPr/>
        </p:nvSpPr>
        <p:spPr>
          <a:xfrm>
            <a:off x="3231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原子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VA/key/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操作数直接写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WQE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64" name=""/>
          <p:cNvSpPr/>
          <p:nvPr/>
        </p:nvSpPr>
        <p:spPr>
          <a:xfrm>
            <a:off x="6102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不走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inline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数据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65" name=""/>
          <p:cNvSpPr/>
          <p:nvPr/>
        </p:nvSpPr>
        <p:spPr>
          <a:xfrm>
            <a:off x="8973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CAS / FAA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66" name=""/>
          <p:cNvSpPr/>
          <p:nvPr/>
        </p:nvSpPr>
        <p:spPr>
          <a:xfrm>
            <a:off x="414000" y="5580000"/>
            <a:ext cx="11376000" cy="432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SGB slot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的选择与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create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阶段的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page[idx/8]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offset[idx%8]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完全一致。</a:t>
            </a:r>
            <a:endParaRPr b="1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04 · SQ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数据面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469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post_send③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WQE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头、业务字段和签名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70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471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22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472" name=""/>
          <p:cNvSpPr/>
          <p:nvPr/>
        </p:nvSpPr>
        <p:spPr>
          <a:xfrm>
            <a:off x="360000" y="738000"/>
            <a:ext cx="5490000" cy="198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700" spc="-1" strike="noStrike">
                <a:solidFill>
                  <a:srgbClr val="ffffff"/>
                </a:solidFill>
                <a:latin typeface="Noto Sans CJK SC"/>
              </a:rPr>
              <a:t>WQE </a:t>
            </a:r>
            <a:r>
              <a:rPr b="1" lang="zh-CN" sz="1700" spc="-1" strike="noStrike">
                <a:solidFill>
                  <a:srgbClr val="ffffff"/>
                </a:solidFill>
                <a:latin typeface="Noto Sans CJK SC"/>
              </a:rPr>
              <a:t>头部</a:t>
            </a:r>
            <a:endParaRPr b="1" lang="en-US" sz="17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73" name=""/>
          <p:cNvSpPr/>
          <p:nvPr/>
        </p:nvSpPr>
        <p:spPr>
          <a:xfrm>
            <a:off x="6336000" y="738000"/>
            <a:ext cx="5490000" cy="198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700" spc="-1" strike="noStrike">
                <a:solidFill>
                  <a:srgbClr val="ffffff"/>
                </a:solidFill>
                <a:latin typeface="Noto Sans CJK SC"/>
              </a:rPr>
              <a:t>业务字段</a:t>
            </a:r>
            <a:endParaRPr b="1" lang="en-US" sz="17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74" name=""/>
          <p:cNvSpPr/>
          <p:nvPr/>
        </p:nvSpPr>
        <p:spPr>
          <a:xfrm>
            <a:off x="360000" y="954000"/>
            <a:ext cx="5490000" cy="2970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"/>
          <p:cNvSpPr/>
          <p:nvPr/>
        </p:nvSpPr>
        <p:spPr>
          <a:xfrm>
            <a:off x="360000" y="954000"/>
            <a:ext cx="50400" cy="2970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"/>
          <p:cNvSpPr/>
          <p:nvPr/>
        </p:nvSpPr>
        <p:spPr>
          <a:xfrm>
            <a:off x="442800" y="982800"/>
            <a:ext cx="5367600" cy="29124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QPN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QP_SN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opcode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index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wrap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valid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RC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追加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ICOS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CE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根据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signaled/sig_all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决定。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SE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只对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solicited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SEND/WRITE_WITH_IMM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等生效。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URC READ+SGB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额外写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total packet number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77" name=""/>
          <p:cNvSpPr/>
          <p:nvPr/>
        </p:nvSpPr>
        <p:spPr>
          <a:xfrm>
            <a:off x="6336000" y="954000"/>
            <a:ext cx="5490000" cy="2970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"/>
          <p:cNvSpPr/>
          <p:nvPr/>
        </p:nvSpPr>
        <p:spPr>
          <a:xfrm>
            <a:off x="6336000" y="954000"/>
            <a:ext cx="50400" cy="2970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"/>
          <p:cNvSpPr/>
          <p:nvPr/>
        </p:nvSpPr>
        <p:spPr>
          <a:xfrm>
            <a:off x="6418800" y="982800"/>
            <a:ext cx="5367600" cy="29124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RC SEND/WRITE/READ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：长度、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SGE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remote VA/rkey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imm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RC atomic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：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compare/swap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或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add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local/remote VA/key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UD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：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dest IP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hoplimit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dest QPN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QKEY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PD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DMAC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签名：头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+ WQE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余部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+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有效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SGB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做逐字节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XOR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反码。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80" name=""/>
          <p:cNvSpPr/>
          <p:nvPr/>
        </p:nvSpPr>
        <p:spPr>
          <a:xfrm>
            <a:off x="396000" y="4320000"/>
            <a:ext cx="11340000" cy="756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写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WQE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成功后才推进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sq_head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；写失败不会发布半条队列项。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04 · SQ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数据面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483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post_send④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shadow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与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SQ doorbell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484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485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23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486" name=""/>
          <p:cNvSpPr/>
          <p:nvPr/>
        </p:nvSpPr>
        <p:spPr>
          <a:xfrm>
            <a:off x="378000" y="720000"/>
            <a:ext cx="486000" cy="306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写环槽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487" name=""/>
          <p:cNvSpPr/>
          <p:nvPr/>
        </p:nvSpPr>
        <p:spPr>
          <a:xfrm>
            <a:off x="954000" y="72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sq_kbuf.write(idx × 64B, wqe)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，保存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sq_wr_id[idx]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和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sq_ring_head[idx]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88" name=""/>
          <p:cNvSpPr/>
          <p:nvPr/>
        </p:nvSpPr>
        <p:spPr>
          <a:xfrm>
            <a:off x="378000" y="1080000"/>
            <a:ext cx="486000" cy="306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推进软件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489" name=""/>
          <p:cNvSpPr/>
          <p:nvPr/>
        </p:nvSpPr>
        <p:spPr>
          <a:xfrm>
            <a:off x="954000" y="108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sq_head++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idx=old_head % sq_depth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idx=0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时翻转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sq_polarity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90" name=""/>
          <p:cNvSpPr/>
          <p:nvPr/>
        </p:nvSpPr>
        <p:spPr>
          <a:xfrm>
            <a:off x="378000" y="1440000"/>
            <a:ext cx="486000" cy="306000"/>
          </a:xfrm>
          <a:prstGeom prst="rect">
            <a:avLst/>
          </a:prstGeom>
          <a:solidFill>
            <a:srgbClr val="2e7d32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读 </a:t>
            </a:r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shadow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491" name=""/>
          <p:cNvSpPr/>
          <p:nvPr/>
        </p:nvSpPr>
        <p:spPr>
          <a:xfrm>
            <a:off x="954000" y="144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读取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QPC+504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HW_DROP_DB_CNT[54:48]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92" name=""/>
          <p:cNvSpPr/>
          <p:nvPr/>
        </p:nvSpPr>
        <p:spPr>
          <a:xfrm>
            <a:off x="378000" y="1800000"/>
            <a:ext cx="486000" cy="306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门铃节流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493" name=""/>
          <p:cNvSpPr/>
          <p:nvPr/>
        </p:nvSpPr>
        <p:spPr>
          <a:xfrm>
            <a:off x="954000" y="180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(hw_drop - sw_ring_db_cnt)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bit6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表示上一门铃是否仍在处理。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94" name=""/>
          <p:cNvSpPr/>
          <p:nvPr/>
        </p:nvSpPr>
        <p:spPr>
          <a:xfrm>
            <a:off x="378000" y="2160000"/>
            <a:ext cx="486000" cy="306000"/>
          </a:xfrm>
          <a:prstGeom prst="rect">
            <a:avLst/>
          </a:prstGeom>
          <a:solidFill>
            <a:srgbClr val="6a1b9a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敲门铃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495" name=""/>
          <p:cNvSpPr/>
          <p:nvPr/>
        </p:nvSpPr>
        <p:spPr>
          <a:xfrm>
            <a:off x="954000" y="216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可发送时写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RDMA_DB_SQ_OFFSET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，携带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WQE header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96" name=""/>
          <p:cNvSpPr/>
          <p:nvPr/>
        </p:nvSpPr>
        <p:spPr>
          <a:xfrm>
            <a:off x="7200000" y="720000"/>
            <a:ext cx="4608000" cy="1872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800" spc="-1" strike="noStrike">
                <a:solidFill>
                  <a:srgbClr val="1565c0"/>
                </a:solidFill>
                <a:latin typeface="Noto Sans CJK SC"/>
              </a:rPr>
              <a:t>本页以状态</a:t>
            </a:r>
            <a:r>
              <a:rPr b="1" lang="en-US" sz="1800" spc="-1" strike="noStrike">
                <a:solidFill>
                  <a:srgbClr val="1565c0"/>
                </a:solidFill>
                <a:latin typeface="Noto Sans CJK SC"/>
              </a:rPr>
              <a:t>/</a:t>
            </a:r>
            <a:r>
              <a:rPr b="1" lang="zh-CN" sz="1800" spc="-1" strike="noStrike">
                <a:solidFill>
                  <a:srgbClr val="1565c0"/>
                </a:solidFill>
                <a:latin typeface="Noto Sans CJK SC"/>
              </a:rPr>
              <a:t>字段动作表为主</a:t>
            </a:r>
            <a:endParaRPr b="1" lang="en-US" sz="1800" spc="-1" strike="noStrike">
              <a:solidFill>
                <a:srgbClr val="1565c0"/>
              </a:solidFill>
              <a:latin typeface="Noto Sans CJK SC"/>
            </a:endParaRPr>
          </a:p>
          <a:p>
            <a:pPr algn="ctr"/>
            <a:endParaRPr b="1" lang="en-US" sz="1800" spc="-1" strike="noStrike">
              <a:solidFill>
                <a:srgbClr val="1565c0"/>
              </a:solidFill>
              <a:latin typeface="Noto Sans CJK SC"/>
            </a:endParaRPr>
          </a:p>
          <a:p>
            <a:pPr algn="ctr"/>
            <a:r>
              <a:rPr b="1" lang="zh-CN" sz="1800" spc="-1" strike="noStrike">
                <a:solidFill>
                  <a:srgbClr val="1565c0"/>
                </a:solidFill>
                <a:latin typeface="Noto Sans CJK SC"/>
              </a:rPr>
              <a:t>关键代码入口见右下角引用。</a:t>
            </a:r>
            <a:endParaRPr b="1" lang="en-US" sz="1800" spc="-1" strike="noStrike">
              <a:solidFill>
                <a:srgbClr val="1565c0"/>
              </a:solidFill>
              <a:latin typeface="Noto Sans CJK SC"/>
            </a:endParaRPr>
          </a:p>
        </p:txBody>
      </p:sp>
      <p:sp>
        <p:nvSpPr>
          <p:cNvPr id="497" name=""/>
          <p:cNvSpPr/>
          <p:nvPr/>
        </p:nvSpPr>
        <p:spPr>
          <a:xfrm>
            <a:off x="7200000" y="2682000"/>
            <a:ext cx="4608000" cy="810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shadow 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是 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driver/dev 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的流控点；不是每次 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post_send 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都一定产生一次 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MMIO doorbell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3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498" name=""/>
          <p:cNvSpPr/>
          <p:nvPr/>
        </p:nvSpPr>
        <p:spPr>
          <a:xfrm>
            <a:off x="396000" y="4356000"/>
            <a:ext cx="11340000" cy="594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讲解重点：先说输入和所有权，再说写入了哪块内存，最后说失败时谁负责回滚。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05 · RQ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数据面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501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post_recv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RQE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、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RQ SGB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与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PI/wrap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02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503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24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504" name=""/>
          <p:cNvSpPr/>
          <p:nvPr/>
        </p:nvSpPr>
        <p:spPr>
          <a:xfrm>
            <a:off x="378000" y="720000"/>
            <a:ext cx="486000" cy="306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检查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505" name=""/>
          <p:cNvSpPr/>
          <p:nvPr/>
        </p:nvSpPr>
        <p:spPr>
          <a:xfrm>
            <a:off x="954000" y="72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SGE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数不超过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max_recv_sge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rq_head-rq_tail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不得等于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rq_depth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06" name=""/>
          <p:cNvSpPr/>
          <p:nvPr/>
        </p:nvSpPr>
        <p:spPr>
          <a:xfrm>
            <a:off x="378000" y="1080000"/>
            <a:ext cx="486000" cy="306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描述符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507" name=""/>
          <p:cNvSpPr/>
          <p:nvPr/>
        </p:nvSpPr>
        <p:spPr>
          <a:xfrm>
            <a:off x="954000" y="108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SGE ≤ 2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写入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RQE byte 32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起；更多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SGE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写入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RQ SGB slot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08" name=""/>
          <p:cNvSpPr/>
          <p:nvPr/>
        </p:nvSpPr>
        <p:spPr>
          <a:xfrm>
            <a:off x="378000" y="1440000"/>
            <a:ext cx="486000" cy="306000"/>
          </a:xfrm>
          <a:prstGeom prst="rect">
            <a:avLst/>
          </a:prstGeom>
          <a:solidFill>
            <a:srgbClr val="2e7d32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头部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509" name=""/>
          <p:cNvSpPr/>
          <p:nvPr/>
        </p:nvSpPr>
        <p:spPr>
          <a:xfrm>
            <a:off x="954000" y="144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QPN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QP_SN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RQE opcode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index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wrap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valid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SGE_NUM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payload_len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10" name=""/>
          <p:cNvSpPr/>
          <p:nvPr/>
        </p:nvSpPr>
        <p:spPr>
          <a:xfrm>
            <a:off x="378000" y="1800000"/>
            <a:ext cx="486000" cy="306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签名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511" name=""/>
          <p:cNvSpPr/>
          <p:nvPr/>
        </p:nvSpPr>
        <p:spPr>
          <a:xfrm>
            <a:off x="954000" y="180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使用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SGB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时写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SIGN_EN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并对头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/WQE/SGB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计算签名。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12" name=""/>
          <p:cNvSpPr/>
          <p:nvPr/>
        </p:nvSpPr>
        <p:spPr>
          <a:xfrm>
            <a:off x="378000" y="2160000"/>
            <a:ext cx="486000" cy="306000"/>
          </a:xfrm>
          <a:prstGeom prst="rect">
            <a:avLst/>
          </a:prstGeom>
          <a:solidFill>
            <a:srgbClr val="6a1b9a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发布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513" name=""/>
          <p:cNvSpPr/>
          <p:nvPr/>
        </p:nvSpPr>
        <p:spPr>
          <a:xfrm>
            <a:off x="954000" y="216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写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rq_kbuf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，保存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wr_id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，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rq_head++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，更新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QPC+510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PI|wrap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14" name=""/>
          <p:cNvSpPr/>
          <p:nvPr/>
        </p:nvSpPr>
        <p:spPr>
          <a:xfrm>
            <a:off x="378000" y="2520000"/>
            <a:ext cx="486000" cy="306000"/>
          </a:xfrm>
          <a:prstGeom prst="rect">
            <a:avLst/>
          </a:prstGeom>
          <a:solidFill>
            <a:srgbClr val="c62828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通知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515" name=""/>
          <p:cNvSpPr/>
          <p:nvPr/>
        </p:nvSpPr>
        <p:spPr>
          <a:xfrm>
            <a:off x="954000" y="252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写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RQ doorbell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：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QPN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ICOS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PI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wrap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16" name=""/>
          <p:cNvSpPr/>
          <p:nvPr/>
        </p:nvSpPr>
        <p:spPr>
          <a:xfrm>
            <a:off x="7200000" y="720000"/>
            <a:ext cx="4608000" cy="1872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800" spc="-1" strike="noStrike">
                <a:solidFill>
                  <a:srgbClr val="1565c0"/>
                </a:solidFill>
                <a:latin typeface="Noto Sans CJK SC"/>
              </a:rPr>
              <a:t>本页以状态</a:t>
            </a:r>
            <a:r>
              <a:rPr b="1" lang="en-US" sz="1800" spc="-1" strike="noStrike">
                <a:solidFill>
                  <a:srgbClr val="1565c0"/>
                </a:solidFill>
                <a:latin typeface="Noto Sans CJK SC"/>
              </a:rPr>
              <a:t>/</a:t>
            </a:r>
            <a:r>
              <a:rPr b="1" lang="zh-CN" sz="1800" spc="-1" strike="noStrike">
                <a:solidFill>
                  <a:srgbClr val="1565c0"/>
                </a:solidFill>
                <a:latin typeface="Noto Sans CJK SC"/>
              </a:rPr>
              <a:t>字段动作表为主</a:t>
            </a:r>
            <a:endParaRPr b="1" lang="en-US" sz="1800" spc="-1" strike="noStrike">
              <a:solidFill>
                <a:srgbClr val="1565c0"/>
              </a:solidFill>
              <a:latin typeface="Noto Sans CJK SC"/>
            </a:endParaRPr>
          </a:p>
          <a:p>
            <a:pPr algn="ctr"/>
            <a:endParaRPr b="1" lang="en-US" sz="1800" spc="-1" strike="noStrike">
              <a:solidFill>
                <a:srgbClr val="1565c0"/>
              </a:solidFill>
              <a:latin typeface="Noto Sans CJK SC"/>
            </a:endParaRPr>
          </a:p>
          <a:p>
            <a:pPr algn="ctr"/>
            <a:r>
              <a:rPr b="1" lang="zh-CN" sz="1800" spc="-1" strike="noStrike">
                <a:solidFill>
                  <a:srgbClr val="1565c0"/>
                </a:solidFill>
                <a:latin typeface="Noto Sans CJK SC"/>
              </a:rPr>
              <a:t>关键代码入口见右下角引用。</a:t>
            </a:r>
            <a:endParaRPr b="1" lang="en-US" sz="1800" spc="-1" strike="noStrike">
              <a:solidFill>
                <a:srgbClr val="1565c0"/>
              </a:solidFill>
              <a:latin typeface="Noto Sans CJK SC"/>
            </a:endParaRPr>
          </a:p>
        </p:txBody>
      </p:sp>
      <p:sp>
        <p:nvSpPr>
          <p:cNvPr id="517" name=""/>
          <p:cNvSpPr/>
          <p:nvPr/>
        </p:nvSpPr>
        <p:spPr>
          <a:xfrm>
            <a:off x="7200000" y="2682000"/>
            <a:ext cx="4608000" cy="810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rdma_drv_wr.sv:427-508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post_recv 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不负责判断网络状态，设备接收入口负责 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RTR/RTS/SQD 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准入。</a:t>
            </a:r>
            <a:endParaRPr b="0" lang="en-US" sz="13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18" name=""/>
          <p:cNvSpPr/>
          <p:nvPr/>
        </p:nvSpPr>
        <p:spPr>
          <a:xfrm>
            <a:off x="396000" y="4356000"/>
            <a:ext cx="11340000" cy="594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讲解重点：先说输入和所有权，再说写入了哪块内存，最后说失败时谁负责回滚。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06 · DEVICE NIC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521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设备端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drain_sq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：什么时候真正消费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SQE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22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523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25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524" name=""/>
          <p:cNvSpPr/>
          <p:nvPr/>
        </p:nvSpPr>
        <p:spPr>
          <a:xfrm>
            <a:off x="378000" y="720000"/>
            <a:ext cx="486000" cy="306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唤醒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525" name=""/>
          <p:cNvSpPr/>
          <p:nvPr/>
        </p:nvSpPr>
        <p:spPr>
          <a:xfrm>
            <a:off x="954000" y="72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 doorbell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按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QPN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将任务送入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sq_kicks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；设备查找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QPC/runtime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26" name=""/>
          <p:cNvSpPr/>
          <p:nvPr/>
        </p:nvSpPr>
        <p:spPr>
          <a:xfrm>
            <a:off x="378000" y="1080000"/>
            <a:ext cx="486000" cy="306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取槽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527" name=""/>
          <p:cNvSpPr/>
          <p:nvPr/>
        </p:nvSpPr>
        <p:spPr>
          <a:xfrm>
            <a:off x="954000" y="108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按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rt.sq_ci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计算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 slot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，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DMA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读取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64B WQE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28" name=""/>
          <p:cNvSpPr/>
          <p:nvPr/>
        </p:nvSpPr>
        <p:spPr>
          <a:xfrm>
            <a:off x="378000" y="1440000"/>
            <a:ext cx="486000" cy="306000"/>
          </a:xfrm>
          <a:prstGeom prst="rect">
            <a:avLst/>
          </a:prstGeom>
          <a:solidFill>
            <a:srgbClr val="2e7d32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valid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529" name=""/>
          <p:cNvSpPr/>
          <p:nvPr/>
        </p:nvSpPr>
        <p:spPr>
          <a:xfrm>
            <a:off x="954000" y="144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检查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WQE polarity/valid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与设备消费圈一致。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30" name=""/>
          <p:cNvSpPr/>
          <p:nvPr/>
        </p:nvSpPr>
        <p:spPr>
          <a:xfrm>
            <a:off x="378000" y="1800000"/>
            <a:ext cx="486000" cy="306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状态门控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531" name=""/>
          <p:cNvSpPr/>
          <p:nvPr/>
        </p:nvSpPr>
        <p:spPr>
          <a:xfrm>
            <a:off x="954000" y="180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只有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QPC_QP_ST==RTS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才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process_sqe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SQD/SQE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留在环上。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32" name=""/>
          <p:cNvSpPr/>
          <p:nvPr/>
        </p:nvSpPr>
        <p:spPr>
          <a:xfrm>
            <a:off x="378000" y="2160000"/>
            <a:ext cx="486000" cy="306000"/>
          </a:xfrm>
          <a:prstGeom prst="rect">
            <a:avLst/>
          </a:prstGeom>
          <a:solidFill>
            <a:srgbClr val="c62828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ERR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533" name=""/>
          <p:cNvSpPr/>
          <p:nvPr/>
        </p:nvSpPr>
        <p:spPr>
          <a:xfrm>
            <a:off x="954000" y="216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非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URC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ERR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会为未完成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 WQE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生成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SQ_FLUSH_ERR CQE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34" name=""/>
          <p:cNvSpPr/>
          <p:nvPr/>
        </p:nvSpPr>
        <p:spPr>
          <a:xfrm>
            <a:off x="378000" y="2520000"/>
            <a:ext cx="486000" cy="306000"/>
          </a:xfrm>
          <a:prstGeom prst="rect">
            <a:avLst/>
          </a:prstGeom>
          <a:solidFill>
            <a:srgbClr val="6a1b9a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完成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535" name=""/>
          <p:cNvSpPr/>
          <p:nvPr/>
        </p:nvSpPr>
        <p:spPr>
          <a:xfrm>
            <a:off x="954000" y="252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处理后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rt.sq_ci++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，最后把已见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doorbell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数写回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shadow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36" name=""/>
          <p:cNvSpPr/>
          <p:nvPr/>
        </p:nvSpPr>
        <p:spPr>
          <a:xfrm>
            <a:off x="7200000" y="720000"/>
            <a:ext cx="4608000" cy="1872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800" spc="-1" strike="noStrike">
                <a:solidFill>
                  <a:srgbClr val="1565c0"/>
                </a:solidFill>
                <a:latin typeface="Noto Sans CJK SC"/>
              </a:rPr>
              <a:t>本页以状态</a:t>
            </a:r>
            <a:r>
              <a:rPr b="1" lang="en-US" sz="1800" spc="-1" strike="noStrike">
                <a:solidFill>
                  <a:srgbClr val="1565c0"/>
                </a:solidFill>
                <a:latin typeface="Noto Sans CJK SC"/>
              </a:rPr>
              <a:t>/</a:t>
            </a:r>
            <a:r>
              <a:rPr b="1" lang="zh-CN" sz="1800" spc="-1" strike="noStrike">
                <a:solidFill>
                  <a:srgbClr val="1565c0"/>
                </a:solidFill>
                <a:latin typeface="Noto Sans CJK SC"/>
              </a:rPr>
              <a:t>字段动作表为主</a:t>
            </a:r>
            <a:endParaRPr b="1" lang="en-US" sz="1800" spc="-1" strike="noStrike">
              <a:solidFill>
                <a:srgbClr val="1565c0"/>
              </a:solidFill>
              <a:latin typeface="Noto Sans CJK SC"/>
            </a:endParaRPr>
          </a:p>
          <a:p>
            <a:pPr algn="ctr"/>
            <a:endParaRPr b="1" lang="en-US" sz="1800" spc="-1" strike="noStrike">
              <a:solidFill>
                <a:srgbClr val="1565c0"/>
              </a:solidFill>
              <a:latin typeface="Noto Sans CJK SC"/>
            </a:endParaRPr>
          </a:p>
          <a:p>
            <a:pPr algn="ctr"/>
            <a:r>
              <a:rPr b="1" lang="zh-CN" sz="1800" spc="-1" strike="noStrike">
                <a:solidFill>
                  <a:srgbClr val="1565c0"/>
                </a:solidFill>
                <a:latin typeface="Noto Sans CJK SC"/>
              </a:rPr>
              <a:t>关键代码入口见右下角引用。</a:t>
            </a:r>
            <a:endParaRPr b="1" lang="en-US" sz="1800" spc="-1" strike="noStrike">
              <a:solidFill>
                <a:srgbClr val="1565c0"/>
              </a:solidFill>
              <a:latin typeface="Noto Sans CJK SC"/>
            </a:endParaRPr>
          </a:p>
        </p:txBody>
      </p:sp>
      <p:sp>
        <p:nvSpPr>
          <p:cNvPr id="537" name=""/>
          <p:cNvSpPr/>
          <p:nvPr/>
        </p:nvSpPr>
        <p:spPr>
          <a:xfrm>
            <a:off x="7200000" y="2682000"/>
            <a:ext cx="4608000" cy="810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rdma_dev_nic.sv:901-940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3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38" name=""/>
          <p:cNvSpPr/>
          <p:nvPr/>
        </p:nvSpPr>
        <p:spPr>
          <a:xfrm>
            <a:off x="396000" y="4356000"/>
            <a:ext cx="11340000" cy="594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讲解重点：先说输入和所有权，再说写入了哪块内存，最后说失败时谁负责回滚。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06 · DEVICE NIC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541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设备端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handle_request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：报文如何被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QPC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准入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42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543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26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544" name=""/>
          <p:cNvSpPr/>
          <p:nvPr/>
        </p:nvSpPr>
        <p:spPr>
          <a:xfrm>
            <a:off x="360000" y="1800000"/>
            <a:ext cx="1800000" cy="450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收到 </a:t>
            </a:r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frame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45" name=""/>
          <p:cNvSpPr/>
          <p:nvPr/>
        </p:nvSpPr>
        <p:spPr>
          <a:xfrm>
            <a:off x="218520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546" name=""/>
          <p:cNvSpPr/>
          <p:nvPr/>
        </p:nvSpPr>
        <p:spPr>
          <a:xfrm>
            <a:off x="2289600" y="1800000"/>
            <a:ext cx="1800000" cy="450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按 </a:t>
            </a:r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QPN </a:t>
            </a:r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查 </a:t>
            </a:r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QPC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47" name=""/>
          <p:cNvSpPr/>
          <p:nvPr/>
        </p:nvSpPr>
        <p:spPr>
          <a:xfrm>
            <a:off x="411480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548" name=""/>
          <p:cNvSpPr/>
          <p:nvPr/>
        </p:nvSpPr>
        <p:spPr>
          <a:xfrm>
            <a:off x="4219200" y="1800000"/>
            <a:ext cx="1800000" cy="450000"/>
          </a:xfrm>
          <a:prstGeom prst="rect">
            <a:avLst/>
          </a:prstGeom>
          <a:solidFill>
            <a:srgbClr val="2e7d32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状态准入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49" name=""/>
          <p:cNvSpPr/>
          <p:nvPr/>
        </p:nvSpPr>
        <p:spPr>
          <a:xfrm>
            <a:off x="604440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550" name=""/>
          <p:cNvSpPr/>
          <p:nvPr/>
        </p:nvSpPr>
        <p:spPr>
          <a:xfrm>
            <a:off x="6148800" y="1800000"/>
            <a:ext cx="1800000" cy="450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RC/UD/URC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51" name=""/>
          <p:cNvSpPr/>
          <p:nvPr/>
        </p:nvSpPr>
        <p:spPr>
          <a:xfrm>
            <a:off x="797400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552" name=""/>
          <p:cNvSpPr/>
          <p:nvPr/>
        </p:nvSpPr>
        <p:spPr>
          <a:xfrm>
            <a:off x="8078400" y="1800000"/>
            <a:ext cx="1800000" cy="450000"/>
          </a:xfrm>
          <a:prstGeom prst="rect">
            <a:avLst/>
          </a:prstGeom>
          <a:solidFill>
            <a:srgbClr val="6a1b9a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PSN/QKEY/MR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53" name=""/>
          <p:cNvSpPr/>
          <p:nvPr/>
        </p:nvSpPr>
        <p:spPr>
          <a:xfrm>
            <a:off x="990360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554" name=""/>
          <p:cNvSpPr/>
          <p:nvPr/>
        </p:nvSpPr>
        <p:spPr>
          <a:xfrm>
            <a:off x="10008000" y="1800000"/>
            <a:ext cx="1800000" cy="450000"/>
          </a:xfrm>
          <a:prstGeom prst="rect">
            <a:avLst/>
          </a:prstGeom>
          <a:solidFill>
            <a:srgbClr val="c62828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写内存</a:t>
            </a:r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/CQE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55" name=""/>
          <p:cNvSpPr/>
          <p:nvPr/>
        </p:nvSpPr>
        <p:spPr>
          <a:xfrm>
            <a:off x="450000" y="810000"/>
            <a:ext cx="11268000" cy="540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把每个节点理解成一次“资源</a:t>
            </a:r>
            <a:r>
              <a:rPr b="1" lang="en-US" sz="17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状态</a:t>
            </a:r>
            <a:r>
              <a:rPr b="1" lang="en-US" sz="17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数据所有权变化”，不要只把它当成函数调用顺序。</a:t>
            </a:r>
            <a:endParaRPr b="1" lang="en-US" sz="17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56" name=""/>
          <p:cNvSpPr/>
          <p:nvPr/>
        </p:nvSpPr>
        <p:spPr>
          <a:xfrm>
            <a:off x="450000" y="2916000"/>
            <a:ext cx="11268000" cy="1206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RESET/INIT/ERR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丢包；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RTR/RTS/SQD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进入协议检查。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UD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先校验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QKEY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，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RC/URC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先检查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PSN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和分段。</a:t>
            </a:r>
            <a:endParaRPr b="0" lang="en-US" sz="17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07 · RC / UD / URC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559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RC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报文处理：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QPC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字段如何参与可靠传输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60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561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27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562" name=""/>
          <p:cNvSpPr/>
          <p:nvPr/>
        </p:nvSpPr>
        <p:spPr>
          <a:xfrm>
            <a:off x="360000" y="738000"/>
            <a:ext cx="382788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QPC </a:t>
            </a:r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字段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63" name=""/>
          <p:cNvSpPr/>
          <p:nvPr/>
        </p:nvSpPr>
        <p:spPr>
          <a:xfrm>
            <a:off x="4187880" y="738000"/>
            <a:ext cx="382788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报文</a:t>
            </a:r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/</a:t>
            </a:r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运行时作用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64" name=""/>
          <p:cNvSpPr/>
          <p:nvPr/>
        </p:nvSpPr>
        <p:spPr>
          <a:xfrm>
            <a:off x="8015760" y="738000"/>
            <a:ext cx="382824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异常结果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65" name=""/>
          <p:cNvSpPr/>
          <p:nvPr/>
        </p:nvSpPr>
        <p:spPr>
          <a:xfrm>
            <a:off x="360000" y="1224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EPSN_REQ / expected_psn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66" name=""/>
          <p:cNvSpPr/>
          <p:nvPr/>
        </p:nvSpPr>
        <p:spPr>
          <a:xfrm>
            <a:off x="4187880" y="1224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校验入站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BTH.PSN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，驱动接收序列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67" name=""/>
          <p:cNvSpPr/>
          <p:nvPr/>
        </p:nvSpPr>
        <p:spPr>
          <a:xfrm>
            <a:off x="8015760" y="1224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sequence NAK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或不推进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68" name=""/>
          <p:cNvSpPr/>
          <p:nvPr/>
        </p:nvSpPr>
        <p:spPr>
          <a:xfrm>
            <a:off x="360000" y="1710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CUR_SQ_PSN / send_psn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69" name=""/>
          <p:cNvSpPr/>
          <p:nvPr/>
        </p:nvSpPr>
        <p:spPr>
          <a:xfrm>
            <a:off x="4187880" y="1710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构造出站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BTH.PSN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，跨分段递增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70" name=""/>
          <p:cNvSpPr/>
          <p:nvPr/>
        </p:nvSpPr>
        <p:spPr>
          <a:xfrm>
            <a:off x="8015760" y="1710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重试从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ACK/NAK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指定位置恢复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71" name=""/>
          <p:cNvSpPr/>
          <p:nvPr/>
        </p:nvSpPr>
        <p:spPr>
          <a:xfrm>
            <a:off x="360000" y="2196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RTO_CODE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72" name=""/>
          <p:cNvSpPr/>
          <p:nvPr/>
        </p:nvSpPr>
        <p:spPr>
          <a:xfrm>
            <a:off x="4187880" y="2196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等待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ACK/READ/ATOMIC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响应的超时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73" name=""/>
          <p:cNvSpPr/>
          <p:nvPr/>
        </p:nvSpPr>
        <p:spPr>
          <a:xfrm>
            <a:off x="8015760" y="2196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超时重试，耗尽生成错误完成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74" name=""/>
          <p:cNvSpPr/>
          <p:nvPr/>
        </p:nvSpPr>
        <p:spPr>
          <a:xfrm>
            <a:off x="360000" y="2682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PSN_RETRY_TH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75" name=""/>
          <p:cNvSpPr/>
          <p:nvPr/>
        </p:nvSpPr>
        <p:spPr>
          <a:xfrm>
            <a:off x="4187880" y="2682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序列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NAK/RTO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重试预算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76" name=""/>
          <p:cNvSpPr/>
          <p:nvPr/>
        </p:nvSpPr>
        <p:spPr>
          <a:xfrm>
            <a:off x="8015760" y="2682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耗尽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0x16/0x18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并进入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ERR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77" name=""/>
          <p:cNvSpPr/>
          <p:nvPr/>
        </p:nvSpPr>
        <p:spPr>
          <a:xfrm>
            <a:off x="360000" y="3168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LOCAL_RNR_CODE / RNR_RETRY_TH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78" name=""/>
          <p:cNvSpPr/>
          <p:nvPr/>
        </p:nvSpPr>
        <p:spPr>
          <a:xfrm>
            <a:off x="4187880" y="3168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RQ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无可用接收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WQE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时的等待和重试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79" name=""/>
          <p:cNvSpPr/>
          <p:nvPr/>
        </p:nvSpPr>
        <p:spPr>
          <a:xfrm>
            <a:off x="8015760" y="3168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耗尽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0xB7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80" name=""/>
          <p:cNvSpPr/>
          <p:nvPr/>
        </p:nvSpPr>
        <p:spPr>
          <a:xfrm>
            <a:off x="360000" y="3654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QP_ACCESS_FLAG / MR key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81" name=""/>
          <p:cNvSpPr/>
          <p:nvPr/>
        </p:nvSpPr>
        <p:spPr>
          <a:xfrm>
            <a:off x="4187880" y="3654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WRITE/READ/ATOMIC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远端访问权限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82" name=""/>
          <p:cNvSpPr/>
          <p:nvPr/>
        </p:nvSpPr>
        <p:spPr>
          <a:xfrm>
            <a:off x="8015760" y="3654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remote access NAK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83" name=""/>
          <p:cNvSpPr/>
          <p:nvPr/>
        </p:nvSpPr>
        <p:spPr>
          <a:xfrm>
            <a:off x="414000" y="5580000"/>
            <a:ext cx="11376000" cy="432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是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transport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状态的权威来源；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netpacket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只携带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wire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字段，不负责改变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retry/PSN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运行态。</a:t>
            </a:r>
            <a:endParaRPr b="1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5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07 · RC / UD / URC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586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UD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与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URC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：同一生命周期，不同的资源和协议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87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588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28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589" name=""/>
          <p:cNvSpPr/>
          <p:nvPr/>
        </p:nvSpPr>
        <p:spPr>
          <a:xfrm>
            <a:off x="360000" y="864000"/>
            <a:ext cx="3600000" cy="234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ffffff"/>
                </a:solidFill>
                <a:latin typeface="Noto Sans CJK SC"/>
              </a:rPr>
              <a:t>UD</a:t>
            </a:r>
            <a:endParaRPr b="1" lang="en-US" sz="19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90" name=""/>
          <p:cNvSpPr/>
          <p:nvPr/>
        </p:nvSpPr>
        <p:spPr>
          <a:xfrm>
            <a:off x="360000" y="1098000"/>
            <a:ext cx="3600000" cy="2592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"/>
          <p:cNvSpPr/>
          <p:nvPr/>
        </p:nvSpPr>
        <p:spPr>
          <a:xfrm>
            <a:off x="360000" y="1098000"/>
            <a:ext cx="50400" cy="2592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"/>
          <p:cNvSpPr/>
          <p:nvPr/>
        </p:nvSpPr>
        <p:spPr>
          <a:xfrm>
            <a:off x="442800" y="1126800"/>
            <a:ext cx="3477600" cy="2534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INIT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写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QKEY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RTR/RTS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主要是启用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入站校验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DETH.QKEY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无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RC ACK/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重传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93" name=""/>
          <p:cNvSpPr/>
          <p:nvPr/>
        </p:nvSpPr>
        <p:spPr>
          <a:xfrm>
            <a:off x="4284000" y="864000"/>
            <a:ext cx="3600000" cy="234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ffffff"/>
                </a:solidFill>
                <a:latin typeface="Noto Sans CJK SC"/>
              </a:rPr>
              <a:t>RC</a:t>
            </a:r>
            <a:endParaRPr b="1" lang="en-US" sz="19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94" name=""/>
          <p:cNvSpPr/>
          <p:nvPr/>
        </p:nvSpPr>
        <p:spPr>
          <a:xfrm>
            <a:off x="4284000" y="1098000"/>
            <a:ext cx="3600000" cy="2592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"/>
          <p:cNvSpPr/>
          <p:nvPr/>
        </p:nvSpPr>
        <p:spPr>
          <a:xfrm>
            <a:off x="4284000" y="1098000"/>
            <a:ext cx="50400" cy="2592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"/>
          <p:cNvSpPr/>
          <p:nvPr/>
        </p:nvSpPr>
        <p:spPr>
          <a:xfrm>
            <a:off x="4366800" y="1126800"/>
            <a:ext cx="3477600" cy="2534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ORQ/EIRQ/UAQ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PSN/ACK/NAK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READ/ATOMIC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可靠完成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597" name=""/>
          <p:cNvSpPr/>
          <p:nvPr/>
        </p:nvSpPr>
        <p:spPr>
          <a:xfrm>
            <a:off x="8208000" y="864000"/>
            <a:ext cx="3600000" cy="234000"/>
          </a:xfrm>
          <a:prstGeom prst="rect">
            <a:avLst/>
          </a:prstGeom>
          <a:solidFill>
            <a:srgbClr val="6a1b9a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900" spc="-1" strike="noStrike">
                <a:solidFill>
                  <a:srgbClr val="ffffff"/>
                </a:solidFill>
                <a:latin typeface="Noto Sans CJK SC"/>
              </a:rPr>
              <a:t>URC</a:t>
            </a:r>
            <a:endParaRPr b="1" lang="en-US" sz="19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598" name=""/>
          <p:cNvSpPr/>
          <p:nvPr/>
        </p:nvSpPr>
        <p:spPr>
          <a:xfrm>
            <a:off x="8208000" y="1098000"/>
            <a:ext cx="3600000" cy="2592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9" name=""/>
          <p:cNvSpPr/>
          <p:nvPr/>
        </p:nvSpPr>
        <p:spPr>
          <a:xfrm>
            <a:off x="8208000" y="1098000"/>
            <a:ext cx="50400" cy="2592000"/>
          </a:xfrm>
          <a:prstGeom prst="rect">
            <a:avLst/>
          </a:prstGeom>
          <a:solidFill>
            <a:srgbClr val="6a1b9a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"/>
          <p:cNvSpPr/>
          <p:nvPr/>
        </p:nvSpPr>
        <p:spPr>
          <a:xfrm>
            <a:off x="8290800" y="1126800"/>
            <a:ext cx="3477600" cy="2534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RSQ/RDSQ/DSQ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frag CQ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URC RBSN/RPSN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异常可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CEQE/AEQE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01" name=""/>
          <p:cNvSpPr/>
          <p:nvPr/>
        </p:nvSpPr>
        <p:spPr>
          <a:xfrm>
            <a:off x="432000" y="4392000"/>
            <a:ext cx="11232000" cy="612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URC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service type=6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RC/UD/URC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重叠字段必须按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service type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解释，不能只看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bit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名。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08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暂停与错误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604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RTS → SQD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：安全暂停发送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05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606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29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07" name=""/>
          <p:cNvSpPr/>
          <p:nvPr/>
        </p:nvSpPr>
        <p:spPr>
          <a:xfrm>
            <a:off x="360000" y="1800000"/>
            <a:ext cx="2185920" cy="450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QPC_MODIFY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QP_ST=5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08" name=""/>
          <p:cNvSpPr/>
          <p:nvPr/>
        </p:nvSpPr>
        <p:spPr>
          <a:xfrm>
            <a:off x="257112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09" name=""/>
          <p:cNvSpPr/>
          <p:nvPr/>
        </p:nvSpPr>
        <p:spPr>
          <a:xfrm>
            <a:off x="2675520" y="1800000"/>
            <a:ext cx="2185920" cy="450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RTS2SQD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doorbell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10" name=""/>
          <p:cNvSpPr/>
          <p:nvPr/>
        </p:nvSpPr>
        <p:spPr>
          <a:xfrm>
            <a:off x="488664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11" name=""/>
          <p:cNvSpPr/>
          <p:nvPr/>
        </p:nvSpPr>
        <p:spPr>
          <a:xfrm>
            <a:off x="4991040" y="1800000"/>
            <a:ext cx="2185920" cy="450000"/>
          </a:xfrm>
          <a:prstGeom prst="rect">
            <a:avLst/>
          </a:prstGeom>
          <a:solidFill>
            <a:srgbClr val="2e7d32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drain </a:t>
            </a:r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在途 </a:t>
            </a:r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WQE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12" name=""/>
          <p:cNvSpPr/>
          <p:nvPr/>
        </p:nvSpPr>
        <p:spPr>
          <a:xfrm>
            <a:off x="720216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13" name=""/>
          <p:cNvSpPr/>
          <p:nvPr/>
        </p:nvSpPr>
        <p:spPr>
          <a:xfrm>
            <a:off x="7306560" y="1800000"/>
            <a:ext cx="2185920" cy="450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AEQE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0x2E DONE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14" name=""/>
          <p:cNvSpPr/>
          <p:nvPr/>
        </p:nvSpPr>
        <p:spPr>
          <a:xfrm>
            <a:off x="951768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15" name=""/>
          <p:cNvSpPr/>
          <p:nvPr/>
        </p:nvSpPr>
        <p:spPr>
          <a:xfrm>
            <a:off x="9622080" y="1800000"/>
            <a:ext cx="2185920" cy="450000"/>
          </a:xfrm>
          <a:prstGeom prst="rect">
            <a:avLst/>
          </a:prstGeom>
          <a:solidFill>
            <a:srgbClr val="6a1b9a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保持 </a:t>
            </a:r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SQD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16" name=""/>
          <p:cNvSpPr/>
          <p:nvPr/>
        </p:nvSpPr>
        <p:spPr>
          <a:xfrm>
            <a:off x="450000" y="810000"/>
            <a:ext cx="11268000" cy="540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把每个节点理解成一次“资源</a:t>
            </a:r>
            <a:r>
              <a:rPr b="1" lang="en-US" sz="17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状态</a:t>
            </a:r>
            <a:r>
              <a:rPr b="1" lang="en-US" sz="17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数据所有权变化”，不要只把它当成函数调用顺序。</a:t>
            </a:r>
            <a:endParaRPr b="1" lang="en-US" sz="17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17" name=""/>
          <p:cNvSpPr/>
          <p:nvPr/>
        </p:nvSpPr>
        <p:spPr>
          <a:xfrm>
            <a:off x="450000" y="2916000"/>
            <a:ext cx="11268000" cy="1206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驱动等待对应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QPN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RTS2SQD_DONE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；其它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AEQ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事件放回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backlog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，不能被等待逻辑吞掉。</a:t>
            </a:r>
            <a:endParaRPr b="0" lang="en-US" sz="17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08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暂停与错误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620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SQD → RTS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：恢复发送与状态不匹配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21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622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30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23" name=""/>
          <p:cNvSpPr/>
          <p:nvPr/>
        </p:nvSpPr>
        <p:spPr>
          <a:xfrm>
            <a:off x="360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操作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24" name=""/>
          <p:cNvSpPr/>
          <p:nvPr/>
        </p:nvSpPr>
        <p:spPr>
          <a:xfrm>
            <a:off x="3231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前置 </a:t>
            </a:r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QPC </a:t>
            </a:r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状态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25" name=""/>
          <p:cNvSpPr/>
          <p:nvPr/>
        </p:nvSpPr>
        <p:spPr>
          <a:xfrm>
            <a:off x="6102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设备动作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26" name=""/>
          <p:cNvSpPr/>
          <p:nvPr/>
        </p:nvSpPr>
        <p:spPr>
          <a:xfrm>
            <a:off x="8973000" y="738000"/>
            <a:ext cx="287100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错误码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27" name=""/>
          <p:cNvSpPr/>
          <p:nvPr/>
        </p:nvSpPr>
        <p:spPr>
          <a:xfrm>
            <a:off x="360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SQD2RTS doorbell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28" name=""/>
          <p:cNvSpPr/>
          <p:nvPr/>
        </p:nvSpPr>
        <p:spPr>
          <a:xfrm>
            <a:off x="3231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已先修改为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RTS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29" name=""/>
          <p:cNvSpPr/>
          <p:nvPr/>
        </p:nvSpPr>
        <p:spPr>
          <a:xfrm>
            <a:off x="6102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重新投递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sq_kicks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，恢复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drain_sq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30" name=""/>
          <p:cNvSpPr/>
          <p:nvPr/>
        </p:nvSpPr>
        <p:spPr>
          <a:xfrm>
            <a:off x="8973000" y="1224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成功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31" name=""/>
          <p:cNvSpPr/>
          <p:nvPr/>
        </p:nvSpPr>
        <p:spPr>
          <a:xfrm>
            <a:off x="360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RTS2SQD doorbell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32" name=""/>
          <p:cNvSpPr/>
          <p:nvPr/>
        </p:nvSpPr>
        <p:spPr>
          <a:xfrm>
            <a:off x="3231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不是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SQD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33" name=""/>
          <p:cNvSpPr/>
          <p:nvPr/>
        </p:nvSpPr>
        <p:spPr>
          <a:xfrm>
            <a:off x="6102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不执行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drain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，写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AEQE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34" name=""/>
          <p:cNvSpPr/>
          <p:nvPr/>
        </p:nvSpPr>
        <p:spPr>
          <a:xfrm>
            <a:off x="8973000" y="1710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0x2C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35" name=""/>
          <p:cNvSpPr/>
          <p:nvPr/>
        </p:nvSpPr>
        <p:spPr>
          <a:xfrm>
            <a:off x="360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SQD2RTS doorbell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36" name=""/>
          <p:cNvSpPr/>
          <p:nvPr/>
        </p:nvSpPr>
        <p:spPr>
          <a:xfrm>
            <a:off x="3231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不是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RTS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37" name=""/>
          <p:cNvSpPr/>
          <p:nvPr/>
        </p:nvSpPr>
        <p:spPr>
          <a:xfrm>
            <a:off x="6102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不恢复，写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AEQE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38" name=""/>
          <p:cNvSpPr/>
          <p:nvPr/>
        </p:nvSpPr>
        <p:spPr>
          <a:xfrm>
            <a:off x="8973000" y="2196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0x2F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39" name=""/>
          <p:cNvSpPr/>
          <p:nvPr/>
        </p:nvSpPr>
        <p:spPr>
          <a:xfrm>
            <a:off x="360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SQD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中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post_send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40" name=""/>
          <p:cNvSpPr/>
          <p:nvPr/>
        </p:nvSpPr>
        <p:spPr>
          <a:xfrm>
            <a:off x="3231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软件允许入队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41" name=""/>
          <p:cNvSpPr/>
          <p:nvPr/>
        </p:nvSpPr>
        <p:spPr>
          <a:xfrm>
            <a:off x="6102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设备暂不消费新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42" name=""/>
          <p:cNvSpPr/>
          <p:nvPr/>
        </p:nvSpPr>
        <p:spPr>
          <a:xfrm>
            <a:off x="8973000" y="2682000"/>
            <a:ext cx="287100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恢复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RTS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后继续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43" name=""/>
          <p:cNvSpPr/>
          <p:nvPr/>
        </p:nvSpPr>
        <p:spPr>
          <a:xfrm>
            <a:off x="414000" y="5580000"/>
            <a:ext cx="11376000" cy="432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SQD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是可恢复的发送暂停；不要把它当作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ERR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或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destroy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1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5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08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暂停与错误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646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ERR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：主动错误、被动错误与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flush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47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648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31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49" name=""/>
          <p:cNvSpPr/>
          <p:nvPr/>
        </p:nvSpPr>
        <p:spPr>
          <a:xfrm>
            <a:off x="360000" y="738000"/>
            <a:ext cx="5490000" cy="198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700" spc="-1" strike="noStrike">
                <a:solidFill>
                  <a:srgbClr val="ffffff"/>
                </a:solidFill>
                <a:latin typeface="Noto Sans CJK SC"/>
              </a:rPr>
              <a:t>进入 </a:t>
            </a:r>
            <a:r>
              <a:rPr b="1" lang="en-US" sz="1700" spc="-1" strike="noStrike">
                <a:solidFill>
                  <a:srgbClr val="ffffff"/>
                </a:solidFill>
                <a:latin typeface="Noto Sans CJK SC"/>
              </a:rPr>
              <a:t>ERR </a:t>
            </a:r>
            <a:r>
              <a:rPr b="1" lang="zh-CN" sz="1700" spc="-1" strike="noStrike">
                <a:solidFill>
                  <a:srgbClr val="ffffff"/>
                </a:solidFill>
                <a:latin typeface="Noto Sans CJK SC"/>
              </a:rPr>
              <a:t>的来源</a:t>
            </a:r>
            <a:endParaRPr b="1" lang="en-US" sz="17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50" name=""/>
          <p:cNvSpPr/>
          <p:nvPr/>
        </p:nvSpPr>
        <p:spPr>
          <a:xfrm>
            <a:off x="6336000" y="738000"/>
            <a:ext cx="5490000" cy="198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700" spc="-1" strike="noStrike">
                <a:solidFill>
                  <a:srgbClr val="ffffff"/>
                </a:solidFill>
                <a:latin typeface="Noto Sans CJK SC"/>
              </a:rPr>
              <a:t>进入 </a:t>
            </a:r>
            <a:r>
              <a:rPr b="1" lang="en-US" sz="1700" spc="-1" strike="noStrike">
                <a:solidFill>
                  <a:srgbClr val="ffffff"/>
                </a:solidFill>
                <a:latin typeface="Noto Sans CJK SC"/>
              </a:rPr>
              <a:t>ERR </a:t>
            </a:r>
            <a:r>
              <a:rPr b="1" lang="zh-CN" sz="1700" spc="-1" strike="noStrike">
                <a:solidFill>
                  <a:srgbClr val="ffffff"/>
                </a:solidFill>
                <a:latin typeface="Noto Sans CJK SC"/>
              </a:rPr>
              <a:t>的可观察结果</a:t>
            </a:r>
            <a:endParaRPr b="1" lang="en-US" sz="17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51" name=""/>
          <p:cNvSpPr/>
          <p:nvPr/>
        </p:nvSpPr>
        <p:spPr>
          <a:xfrm>
            <a:off x="360000" y="954000"/>
            <a:ext cx="5490000" cy="2970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2" name=""/>
          <p:cNvSpPr/>
          <p:nvPr/>
        </p:nvSpPr>
        <p:spPr>
          <a:xfrm>
            <a:off x="360000" y="954000"/>
            <a:ext cx="50400" cy="2970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"/>
          <p:cNvSpPr/>
          <p:nvPr/>
        </p:nvSpPr>
        <p:spPr>
          <a:xfrm>
            <a:off x="442800" y="982800"/>
            <a:ext cx="5367600" cy="29124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软件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modify_qp(state=ERR)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RC/URC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致命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NAK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重试次数耗尽或响应超时。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数据面协议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访问错误。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54" name=""/>
          <p:cNvSpPr/>
          <p:nvPr/>
        </p:nvSpPr>
        <p:spPr>
          <a:xfrm>
            <a:off x="6336000" y="954000"/>
            <a:ext cx="5490000" cy="2970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5" name=""/>
          <p:cNvSpPr/>
          <p:nvPr/>
        </p:nvSpPr>
        <p:spPr>
          <a:xfrm>
            <a:off x="6336000" y="954000"/>
            <a:ext cx="50400" cy="2970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"/>
          <p:cNvSpPr/>
          <p:nvPr/>
        </p:nvSpPr>
        <p:spPr>
          <a:xfrm>
            <a:off x="6418800" y="982800"/>
            <a:ext cx="5367600" cy="29124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清理当前协议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epoch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与分段上下文。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写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QPC_QP_ST=4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，敲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QP_FLUSH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未完成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SQ WQE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产生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flush CQE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入站报文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state_drops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增加且不回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ACK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57" name=""/>
          <p:cNvSpPr/>
          <p:nvPr/>
        </p:nvSpPr>
        <p:spPr>
          <a:xfrm>
            <a:off x="396000" y="4320000"/>
            <a:ext cx="11340000" cy="756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错误后的恢复不是继续使用旧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运行态；通常应销毁、释放、重建或按新的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RTR epoch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恢复。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9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09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完成与回收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660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CQE / poll_cq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：业务完成如何回到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driver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61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662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32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63" name=""/>
          <p:cNvSpPr/>
          <p:nvPr/>
        </p:nvSpPr>
        <p:spPr>
          <a:xfrm>
            <a:off x="378000" y="720000"/>
            <a:ext cx="486000" cy="306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设备发布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664" name=""/>
          <p:cNvSpPr/>
          <p:nvPr/>
        </p:nvSpPr>
        <p:spPr>
          <a:xfrm>
            <a:off x="954000" y="72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dev_nic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写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32B CQE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：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QPN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WQE index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SQ/RQ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方向、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ecode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、长度、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imm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65" name=""/>
          <p:cNvSpPr/>
          <p:nvPr/>
        </p:nvSpPr>
        <p:spPr>
          <a:xfrm>
            <a:off x="378000" y="1080000"/>
            <a:ext cx="486000" cy="306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driver </a:t>
            </a:r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读取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666" name=""/>
          <p:cNvSpPr/>
          <p:nvPr/>
        </p:nvSpPr>
        <p:spPr>
          <a:xfrm>
            <a:off x="954000" y="108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poll_cq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按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polarity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读取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CQE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；未知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QPN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返回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INVALID_STATE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67" name=""/>
          <p:cNvSpPr/>
          <p:nvPr/>
        </p:nvSpPr>
        <p:spPr>
          <a:xfrm>
            <a:off x="378000" y="1440000"/>
            <a:ext cx="486000" cy="306000"/>
          </a:xfrm>
          <a:prstGeom prst="rect">
            <a:avLst/>
          </a:prstGeom>
          <a:solidFill>
            <a:srgbClr val="2e7d32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回查 </a:t>
            </a:r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WR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668" name=""/>
          <p:cNvSpPr/>
          <p:nvPr/>
        </p:nvSpPr>
        <p:spPr>
          <a:xfrm>
            <a:off x="954000" y="144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以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CQE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的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WQE_INDEX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回查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sq_wr_id/rq_wr_id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，更新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sq_tail/rq_tail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69" name=""/>
          <p:cNvSpPr/>
          <p:nvPr/>
        </p:nvSpPr>
        <p:spPr>
          <a:xfrm>
            <a:off x="378000" y="1800000"/>
            <a:ext cx="486000" cy="306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错误映射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670" name=""/>
          <p:cNvSpPr/>
          <p:nvPr/>
        </p:nvSpPr>
        <p:spPr>
          <a:xfrm>
            <a:off x="954000" y="180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0x08/0x8F→FLUSH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；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0xB9+syndrome→remote invalid/access/op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71" name=""/>
          <p:cNvSpPr/>
          <p:nvPr/>
        </p:nvSpPr>
        <p:spPr>
          <a:xfrm>
            <a:off x="378000" y="2160000"/>
            <a:ext cx="486000" cy="306000"/>
          </a:xfrm>
          <a:prstGeom prst="rect">
            <a:avLst/>
          </a:prstGeom>
          <a:solidFill>
            <a:srgbClr val="6a1b9a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500" spc="-1" strike="noStrike">
                <a:solidFill>
                  <a:srgbClr val="ffffff"/>
                </a:solidFill>
                <a:latin typeface="Noto Sans Mono CJK SC"/>
              </a:rPr>
              <a:t>推进 </a:t>
            </a:r>
            <a:r>
              <a:rPr b="1" lang="en-US" sz="1500" spc="-1" strike="noStrike">
                <a:solidFill>
                  <a:srgbClr val="ffffff"/>
                </a:solidFill>
                <a:latin typeface="Noto Sans Mono CJK SC"/>
              </a:rPr>
              <a:t>CI</a:t>
            </a:r>
            <a:endParaRPr b="1" lang="en-US" sz="15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672" name=""/>
          <p:cNvSpPr/>
          <p:nvPr/>
        </p:nvSpPr>
        <p:spPr>
          <a:xfrm>
            <a:off x="954000" y="2160000"/>
            <a:ext cx="6048000" cy="30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消费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CQE 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后更新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CQ tail/polarity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，并写 </a:t>
            </a:r>
            <a:r>
              <a:rPr b="0" lang="en-US" sz="1400" spc="-1" strike="noStrike">
                <a:solidFill>
                  <a:srgbClr val="243b53"/>
                </a:solidFill>
                <a:latin typeface="Noto Sans CJK SC"/>
              </a:rPr>
              <a:t>CQC shadow CI</a:t>
            </a:r>
            <a:r>
              <a:rPr b="0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73" name=""/>
          <p:cNvSpPr/>
          <p:nvPr/>
        </p:nvSpPr>
        <p:spPr>
          <a:xfrm>
            <a:off x="7200000" y="720000"/>
            <a:ext cx="4608000" cy="1872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800" spc="-1" strike="noStrike">
                <a:solidFill>
                  <a:srgbClr val="1565c0"/>
                </a:solidFill>
                <a:latin typeface="Noto Sans CJK SC"/>
              </a:rPr>
              <a:t>本页以状态</a:t>
            </a:r>
            <a:r>
              <a:rPr b="1" lang="en-US" sz="1800" spc="-1" strike="noStrike">
                <a:solidFill>
                  <a:srgbClr val="1565c0"/>
                </a:solidFill>
                <a:latin typeface="Noto Sans CJK SC"/>
              </a:rPr>
              <a:t>/</a:t>
            </a:r>
            <a:r>
              <a:rPr b="1" lang="zh-CN" sz="1800" spc="-1" strike="noStrike">
                <a:solidFill>
                  <a:srgbClr val="1565c0"/>
                </a:solidFill>
                <a:latin typeface="Noto Sans CJK SC"/>
              </a:rPr>
              <a:t>字段动作表为主</a:t>
            </a:r>
            <a:endParaRPr b="1" lang="en-US" sz="1800" spc="-1" strike="noStrike">
              <a:solidFill>
                <a:srgbClr val="1565c0"/>
              </a:solidFill>
              <a:latin typeface="Noto Sans CJK SC"/>
            </a:endParaRPr>
          </a:p>
          <a:p>
            <a:pPr algn="ctr"/>
            <a:endParaRPr b="1" lang="en-US" sz="1800" spc="-1" strike="noStrike">
              <a:solidFill>
                <a:srgbClr val="1565c0"/>
              </a:solidFill>
              <a:latin typeface="Noto Sans CJK SC"/>
            </a:endParaRPr>
          </a:p>
          <a:p>
            <a:pPr algn="ctr"/>
            <a:r>
              <a:rPr b="1" lang="zh-CN" sz="1800" spc="-1" strike="noStrike">
                <a:solidFill>
                  <a:srgbClr val="1565c0"/>
                </a:solidFill>
                <a:latin typeface="Noto Sans CJK SC"/>
              </a:rPr>
              <a:t>关键代码入口见右下角引用。</a:t>
            </a:r>
            <a:endParaRPr b="1" lang="en-US" sz="1800" spc="-1" strike="noStrike">
              <a:solidFill>
                <a:srgbClr val="1565c0"/>
              </a:solidFill>
              <a:latin typeface="Noto Sans CJK SC"/>
            </a:endParaRPr>
          </a:p>
        </p:txBody>
      </p:sp>
      <p:sp>
        <p:nvSpPr>
          <p:cNvPr id="674" name=""/>
          <p:cNvSpPr/>
          <p:nvPr/>
        </p:nvSpPr>
        <p:spPr>
          <a:xfrm>
            <a:off x="7200000" y="2682000"/>
            <a:ext cx="4608000" cy="810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rdma_drv_wr.sv:500+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；完成状态是“设备 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CQE → driver WC”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而不是直接由 </a:t>
            </a:r>
            <a:r>
              <a:rPr b="0" lang="en-US" sz="1300" spc="-1" strike="noStrike">
                <a:solidFill>
                  <a:srgbClr val="243b53"/>
                </a:solidFill>
                <a:latin typeface="Noto Sans CJK SC"/>
              </a:rPr>
              <a:t>packet checker </a:t>
            </a:r>
            <a:r>
              <a:rPr b="0" lang="zh-CN" sz="1300" spc="-1" strike="noStrike">
                <a:solidFill>
                  <a:srgbClr val="243b53"/>
                </a:solidFill>
                <a:latin typeface="Noto Sans CJK SC"/>
              </a:rPr>
              <a:t>生成。</a:t>
            </a:r>
            <a:endParaRPr b="0" lang="en-US" sz="13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75" name=""/>
          <p:cNvSpPr/>
          <p:nvPr/>
        </p:nvSpPr>
        <p:spPr>
          <a:xfrm>
            <a:off x="396000" y="4356000"/>
            <a:ext cx="11340000" cy="594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讲解重点：先说输入和所有权，再说写入了哪块内存，最后说失败时谁负责回滚。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09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完成与回收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678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destroy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：从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ERR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到资源完全释放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79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680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33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81" name=""/>
          <p:cNvSpPr/>
          <p:nvPr/>
        </p:nvSpPr>
        <p:spPr>
          <a:xfrm>
            <a:off x="360000" y="1800000"/>
            <a:ext cx="1800000" cy="450000"/>
          </a:xfrm>
          <a:prstGeom prst="rect">
            <a:avLst/>
          </a:prstGeom>
          <a:solidFill>
            <a:srgbClr val="c62828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to ERR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82" name=""/>
          <p:cNvSpPr/>
          <p:nvPr/>
        </p:nvSpPr>
        <p:spPr>
          <a:xfrm>
            <a:off x="218520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83" name=""/>
          <p:cNvSpPr/>
          <p:nvPr/>
        </p:nvSpPr>
        <p:spPr>
          <a:xfrm>
            <a:off x="2289600" y="1800000"/>
            <a:ext cx="1800000" cy="450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OCC_FLUSH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EIRQE/ORQE/UAQE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84" name=""/>
          <p:cNvSpPr/>
          <p:nvPr/>
        </p:nvSpPr>
        <p:spPr>
          <a:xfrm>
            <a:off x="411480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85" name=""/>
          <p:cNvSpPr/>
          <p:nvPr/>
        </p:nvSpPr>
        <p:spPr>
          <a:xfrm>
            <a:off x="4219200" y="1800000"/>
            <a:ext cx="1800000" cy="450000"/>
          </a:xfrm>
          <a:prstGeom prst="rect">
            <a:avLst/>
          </a:prstGeom>
          <a:solidFill>
            <a:srgbClr val="6a1b9a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QPC_DELETE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86" name=""/>
          <p:cNvSpPr/>
          <p:nvPr/>
        </p:nvSpPr>
        <p:spPr>
          <a:xfrm>
            <a:off x="604440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87" name=""/>
          <p:cNvSpPr/>
          <p:nvPr/>
        </p:nvSpPr>
        <p:spPr>
          <a:xfrm>
            <a:off x="6148800" y="1800000"/>
            <a:ext cx="1800000" cy="450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clean CQ/frag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88" name=""/>
          <p:cNvSpPr/>
          <p:nvPr/>
        </p:nvSpPr>
        <p:spPr>
          <a:xfrm>
            <a:off x="797400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89" name=""/>
          <p:cNvSpPr/>
          <p:nvPr/>
        </p:nvSpPr>
        <p:spPr>
          <a:xfrm>
            <a:off x="8078400" y="1800000"/>
            <a:ext cx="1800000" cy="450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free backing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90" name=""/>
          <p:cNvSpPr/>
          <p:nvPr/>
        </p:nvSpPr>
        <p:spPr>
          <a:xfrm>
            <a:off x="9903600" y="1963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91" name=""/>
          <p:cNvSpPr/>
          <p:nvPr/>
        </p:nvSpPr>
        <p:spPr>
          <a:xfrm>
            <a:off x="10008000" y="1800000"/>
            <a:ext cx="1800000" cy="450000"/>
          </a:xfrm>
          <a:prstGeom prst="rect">
            <a:avLst/>
          </a:prstGeom>
          <a:solidFill>
            <a:srgbClr val="2e7d32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free QPN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zh-CN" sz="1600" spc="-1" strike="noStrike">
                <a:solidFill>
                  <a:srgbClr val="ffffff"/>
                </a:solidFill>
                <a:latin typeface="Noto Sans CJK SC"/>
              </a:rPr>
              <a:t>删 </a:t>
            </a:r>
            <a:r>
              <a:rPr b="1" lang="en-US" sz="1600" spc="-1" strike="noStrike">
                <a:solidFill>
                  <a:srgbClr val="ffffff"/>
                </a:solidFill>
                <a:latin typeface="Noto Sans CJK SC"/>
              </a:rPr>
              <a:t>qp_table</a:t>
            </a:r>
            <a:endParaRPr b="1" lang="en-US" sz="16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92" name=""/>
          <p:cNvSpPr/>
          <p:nvPr/>
        </p:nvSpPr>
        <p:spPr>
          <a:xfrm>
            <a:off x="450000" y="810000"/>
            <a:ext cx="11268000" cy="540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把每个节点理解成一次“资源</a:t>
            </a:r>
            <a:r>
              <a:rPr b="1" lang="en-US" sz="17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状态</a:t>
            </a:r>
            <a:r>
              <a:rPr b="1" lang="en-US" sz="17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1" lang="zh-CN" sz="1700" spc="-1" strike="noStrike">
                <a:solidFill>
                  <a:srgbClr val="243b53"/>
                </a:solidFill>
                <a:latin typeface="Noto Sans CJK SC"/>
              </a:rPr>
              <a:t>数据所有权变化”，不要只把它当成函数调用顺序。</a:t>
            </a:r>
            <a:endParaRPr b="1" lang="en-US" sz="17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693" name=""/>
          <p:cNvSpPr/>
          <p:nvPr/>
        </p:nvSpPr>
        <p:spPr>
          <a:xfrm>
            <a:off x="450000" y="2916000"/>
            <a:ext cx="11268000" cy="1206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destroy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的顺序保证在删除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前，设备已收到 </a:t>
            </a:r>
            <a:r>
              <a:rPr b="0" lang="en-US" sz="1700" spc="-1" strike="noStrike">
                <a:solidFill>
                  <a:srgbClr val="243b53"/>
                </a:solidFill>
                <a:latin typeface="Noto Sans CJK SC"/>
              </a:rPr>
              <a:t>flush </a:t>
            </a:r>
            <a:r>
              <a:rPr b="0" lang="zh-CN" sz="1700" spc="-1" strike="noStrike">
                <a:solidFill>
                  <a:srgbClr val="243b53"/>
                </a:solidFill>
                <a:latin typeface="Noto Sans CJK SC"/>
              </a:rPr>
              <a:t>语义；失败时不会盲目释放仍被硬件引用的资源。</a:t>
            </a:r>
            <a:endParaRPr b="0" lang="en-US" sz="17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10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端到端串讲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696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端到端时序：从 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QP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创建到报文发送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697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698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34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699" name=""/>
          <p:cNvSpPr/>
          <p:nvPr/>
        </p:nvSpPr>
        <p:spPr>
          <a:xfrm>
            <a:off x="252000" y="1476000"/>
            <a:ext cx="1560240" cy="61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SC"/>
              </a:rPr>
              <a:t>t0</a:t>
            </a:r>
            <a:endParaRPr b="1" lang="en-US" sz="13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SC"/>
              </a:rPr>
              <a:t>Function probe</a:t>
            </a:r>
            <a:endParaRPr b="1" lang="en-US" sz="13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00" name=""/>
          <p:cNvSpPr/>
          <p:nvPr/>
        </p:nvSpPr>
        <p:spPr>
          <a:xfrm>
            <a:off x="1837440" y="1720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701" name=""/>
          <p:cNvSpPr/>
          <p:nvPr/>
        </p:nvSpPr>
        <p:spPr>
          <a:xfrm>
            <a:off x="1941840" y="1476000"/>
            <a:ext cx="1560240" cy="612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SC"/>
              </a:rPr>
              <a:t>t1</a:t>
            </a:r>
            <a:endParaRPr b="1" lang="en-US" sz="13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SC"/>
              </a:rPr>
              <a:t>PD/CQ/MR</a:t>
            </a:r>
            <a:endParaRPr b="1" lang="en-US" sz="13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02" name=""/>
          <p:cNvSpPr/>
          <p:nvPr/>
        </p:nvSpPr>
        <p:spPr>
          <a:xfrm>
            <a:off x="3527280" y="1720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703" name=""/>
          <p:cNvSpPr/>
          <p:nvPr/>
        </p:nvSpPr>
        <p:spPr>
          <a:xfrm>
            <a:off x="3631680" y="1476000"/>
            <a:ext cx="1560240" cy="612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SC"/>
              </a:rPr>
              <a:t>t2</a:t>
            </a:r>
            <a:endParaRPr b="1" lang="en-US" sz="13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SC"/>
              </a:rPr>
              <a:t>QPN + buffers</a:t>
            </a:r>
            <a:endParaRPr b="1" lang="en-US" sz="13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04" name=""/>
          <p:cNvSpPr/>
          <p:nvPr/>
        </p:nvSpPr>
        <p:spPr>
          <a:xfrm>
            <a:off x="5217120" y="1720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705" name=""/>
          <p:cNvSpPr/>
          <p:nvPr/>
        </p:nvSpPr>
        <p:spPr>
          <a:xfrm>
            <a:off x="5321520" y="1476000"/>
            <a:ext cx="1560240" cy="612000"/>
          </a:xfrm>
          <a:prstGeom prst="rect">
            <a:avLst/>
          </a:prstGeom>
          <a:solidFill>
            <a:srgbClr val="6a1b9a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SC"/>
              </a:rPr>
              <a:t>t3</a:t>
            </a:r>
            <a:endParaRPr b="1" lang="en-US" sz="13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SC"/>
              </a:rPr>
              <a:t>QPC_CREATE</a:t>
            </a:r>
            <a:endParaRPr b="1" lang="en-US" sz="13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06" name=""/>
          <p:cNvSpPr/>
          <p:nvPr/>
        </p:nvSpPr>
        <p:spPr>
          <a:xfrm>
            <a:off x="6906960" y="1720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707" name=""/>
          <p:cNvSpPr/>
          <p:nvPr/>
        </p:nvSpPr>
        <p:spPr>
          <a:xfrm>
            <a:off x="7011360" y="1476000"/>
            <a:ext cx="1560240" cy="612000"/>
          </a:xfrm>
          <a:prstGeom prst="rect">
            <a:avLst/>
          </a:prstGeom>
          <a:solidFill>
            <a:srgbClr val="2e7d32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SC"/>
              </a:rPr>
              <a:t>t4</a:t>
            </a:r>
            <a:endParaRPr b="1" lang="en-US" sz="13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SC"/>
              </a:rPr>
              <a:t>INIT/RTR/RTS</a:t>
            </a:r>
            <a:endParaRPr b="1" lang="en-US" sz="13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08" name=""/>
          <p:cNvSpPr/>
          <p:nvPr/>
        </p:nvSpPr>
        <p:spPr>
          <a:xfrm>
            <a:off x="8596800" y="1720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709" name=""/>
          <p:cNvSpPr/>
          <p:nvPr/>
        </p:nvSpPr>
        <p:spPr>
          <a:xfrm>
            <a:off x="8701200" y="1476000"/>
            <a:ext cx="1560240" cy="612000"/>
          </a:xfrm>
          <a:prstGeom prst="rect">
            <a:avLst/>
          </a:prstGeom>
          <a:solidFill>
            <a:srgbClr val="ef6c00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SC"/>
              </a:rPr>
              <a:t>t5</a:t>
            </a:r>
            <a:endParaRPr b="1" lang="en-US" sz="13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SC"/>
              </a:rPr>
              <a:t>WQE + DB</a:t>
            </a:r>
            <a:endParaRPr b="1" lang="en-US" sz="13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10" name=""/>
          <p:cNvSpPr/>
          <p:nvPr/>
        </p:nvSpPr>
        <p:spPr>
          <a:xfrm>
            <a:off x="10286640" y="1720800"/>
            <a:ext cx="79200" cy="1224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400" spc="-1" strike="noStrike">
                <a:solidFill>
                  <a:srgbClr val="52606d"/>
                </a:solidFill>
                <a:latin typeface="Noto Sans Mono CJK SC"/>
              </a:rPr>
              <a:t>→</a:t>
            </a:r>
            <a:endParaRPr b="1" lang="en-US" sz="24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711" name=""/>
          <p:cNvSpPr/>
          <p:nvPr/>
        </p:nvSpPr>
        <p:spPr>
          <a:xfrm>
            <a:off x="10391040" y="1476000"/>
            <a:ext cx="1560240" cy="612000"/>
          </a:xfrm>
          <a:prstGeom prst="rect">
            <a:avLst/>
          </a:prstGeom>
          <a:solidFill>
            <a:srgbClr val="c62828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SC"/>
              </a:rPr>
              <a:t>t6</a:t>
            </a:r>
            <a:endParaRPr b="1" lang="en-US" sz="1300" spc="-1" strike="noStrike">
              <a:solidFill>
                <a:srgbClr val="ffffff"/>
              </a:solidFill>
              <a:latin typeface="Noto Sans CJK SC"/>
            </a:endParaRPr>
          </a:p>
          <a:p>
            <a:pPr algn="ctr"/>
            <a:r>
              <a:rPr b="1" lang="en-US" sz="1300" spc="-1" strike="noStrike">
                <a:solidFill>
                  <a:srgbClr val="ffffff"/>
                </a:solidFill>
                <a:latin typeface="Noto Sans CJK SC"/>
              </a:rPr>
              <a:t>frame/CQE</a:t>
            </a:r>
            <a:endParaRPr b="1" lang="en-US" sz="13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12" name=""/>
          <p:cNvSpPr/>
          <p:nvPr/>
        </p:nvSpPr>
        <p:spPr>
          <a:xfrm>
            <a:off x="720000" y="2880000"/>
            <a:ext cx="10440000" cy="0"/>
          </a:xfrm>
          <a:prstGeom prst="line">
            <a:avLst/>
          </a:prstGeom>
          <a:ln w="18000">
            <a:solidFill>
              <a:srgbClr val="52606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3" name=""/>
          <p:cNvSpPr/>
          <p:nvPr/>
        </p:nvSpPr>
        <p:spPr>
          <a:xfrm>
            <a:off x="324000" y="3006000"/>
            <a:ext cx="792000" cy="486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100" spc="-1" strike="noStrike">
                <a:solidFill>
                  <a:srgbClr val="243b53"/>
                </a:solidFill>
                <a:latin typeface="Noto Sans Mono CJK SC"/>
              </a:rPr>
              <a:t>QPC image</a:t>
            </a:r>
            <a:endParaRPr b="1" lang="en-US" sz="1100" spc="-1" strike="noStrike">
              <a:solidFill>
                <a:srgbClr val="243b53"/>
              </a:solidFill>
              <a:latin typeface="Noto Sans Mono CJK SC"/>
            </a:endParaRPr>
          </a:p>
          <a:p>
            <a:pPr algn="ctr"/>
            <a:r>
              <a:rPr b="1" lang="en-US" sz="1100" spc="-1" strike="noStrike">
                <a:solidFill>
                  <a:srgbClr val="243b53"/>
                </a:solidFill>
                <a:latin typeface="Noto Sans Mono CJK SC"/>
              </a:rPr>
              <a:t>ctx_page</a:t>
            </a:r>
            <a:endParaRPr b="1" lang="en-US" sz="1100" spc="-1" strike="noStrike">
              <a:solidFill>
                <a:srgbClr val="243b53"/>
              </a:solidFill>
              <a:latin typeface="Noto Sans Mono CJK SC"/>
            </a:endParaRPr>
          </a:p>
        </p:txBody>
      </p:sp>
      <p:sp>
        <p:nvSpPr>
          <p:cNvPr id="714" name=""/>
          <p:cNvSpPr/>
          <p:nvPr/>
        </p:nvSpPr>
        <p:spPr>
          <a:xfrm>
            <a:off x="2124000" y="3006000"/>
            <a:ext cx="792000" cy="486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100" spc="-1" strike="noStrike">
                <a:solidFill>
                  <a:srgbClr val="243b53"/>
                </a:solidFill>
                <a:latin typeface="Noto Sans Mono CJK SC"/>
              </a:rPr>
              <a:t>SQ/RQ</a:t>
            </a:r>
            <a:endParaRPr b="1" lang="en-US" sz="1100" spc="-1" strike="noStrike">
              <a:solidFill>
                <a:srgbClr val="243b53"/>
              </a:solidFill>
              <a:latin typeface="Noto Sans Mono CJK SC"/>
            </a:endParaRPr>
          </a:p>
          <a:p>
            <a:pPr algn="ctr"/>
            <a:r>
              <a:rPr b="1" lang="en-US" sz="1100" spc="-1" strike="noStrike">
                <a:solidFill>
                  <a:srgbClr val="243b53"/>
                </a:solidFill>
                <a:latin typeface="Noto Sans Mono CJK SC"/>
              </a:rPr>
              <a:t>PBA</a:t>
            </a:r>
            <a:endParaRPr b="1" lang="en-US" sz="1100" spc="-1" strike="noStrike">
              <a:solidFill>
                <a:srgbClr val="243b53"/>
              </a:solidFill>
              <a:latin typeface="Noto Sans Mono CJK SC"/>
            </a:endParaRPr>
          </a:p>
        </p:txBody>
      </p:sp>
      <p:sp>
        <p:nvSpPr>
          <p:cNvPr id="715" name=""/>
          <p:cNvSpPr/>
          <p:nvPr/>
        </p:nvSpPr>
        <p:spPr>
          <a:xfrm>
            <a:off x="3924000" y="3006000"/>
            <a:ext cx="792000" cy="486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100" spc="-1" strike="noStrike">
                <a:solidFill>
                  <a:srgbClr val="243b53"/>
                </a:solidFill>
                <a:latin typeface="Noto Sans Mono CJK SC"/>
              </a:rPr>
              <a:t>QP_ST</a:t>
            </a:r>
            <a:endParaRPr b="1" lang="en-US" sz="1100" spc="-1" strike="noStrike">
              <a:solidFill>
                <a:srgbClr val="243b53"/>
              </a:solidFill>
              <a:latin typeface="Noto Sans Mono CJK SC"/>
            </a:endParaRPr>
          </a:p>
          <a:p>
            <a:pPr algn="ctr"/>
            <a:r>
              <a:rPr b="1" lang="en-US" sz="1100" spc="-1" strike="noStrike">
                <a:solidFill>
                  <a:srgbClr val="243b53"/>
                </a:solidFill>
                <a:latin typeface="Noto Sans Mono CJK SC"/>
              </a:rPr>
              <a:t>INIT</a:t>
            </a:r>
            <a:endParaRPr b="1" lang="en-US" sz="1100" spc="-1" strike="noStrike">
              <a:solidFill>
                <a:srgbClr val="243b53"/>
              </a:solidFill>
              <a:latin typeface="Noto Sans Mono CJK SC"/>
            </a:endParaRPr>
          </a:p>
        </p:txBody>
      </p:sp>
      <p:sp>
        <p:nvSpPr>
          <p:cNvPr id="716" name=""/>
          <p:cNvSpPr/>
          <p:nvPr/>
        </p:nvSpPr>
        <p:spPr>
          <a:xfrm>
            <a:off x="5724000" y="3006000"/>
            <a:ext cx="792000" cy="486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100" spc="-1" strike="noStrike">
                <a:solidFill>
                  <a:srgbClr val="243b53"/>
                </a:solidFill>
                <a:latin typeface="Noto Sans Mono CJK SC"/>
              </a:rPr>
              <a:t>PSN / AV</a:t>
            </a:r>
            <a:endParaRPr b="1" lang="en-US" sz="1100" spc="-1" strike="noStrike">
              <a:solidFill>
                <a:srgbClr val="243b53"/>
              </a:solidFill>
              <a:latin typeface="Noto Sans Mono CJK SC"/>
            </a:endParaRPr>
          </a:p>
          <a:p>
            <a:pPr algn="ctr"/>
            <a:r>
              <a:rPr b="1" lang="en-US" sz="1100" spc="-1" strike="noStrike">
                <a:solidFill>
                  <a:srgbClr val="243b53"/>
                </a:solidFill>
                <a:latin typeface="Noto Sans Mono CJK SC"/>
              </a:rPr>
              <a:t>RTR</a:t>
            </a:r>
            <a:endParaRPr b="1" lang="en-US" sz="1100" spc="-1" strike="noStrike">
              <a:solidFill>
                <a:srgbClr val="243b53"/>
              </a:solidFill>
              <a:latin typeface="Noto Sans Mono CJK SC"/>
            </a:endParaRPr>
          </a:p>
        </p:txBody>
      </p:sp>
      <p:sp>
        <p:nvSpPr>
          <p:cNvPr id="717" name=""/>
          <p:cNvSpPr/>
          <p:nvPr/>
        </p:nvSpPr>
        <p:spPr>
          <a:xfrm>
            <a:off x="7524000" y="3006000"/>
            <a:ext cx="792000" cy="486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100" spc="-1" strike="noStrike">
                <a:solidFill>
                  <a:srgbClr val="243b53"/>
                </a:solidFill>
                <a:latin typeface="Noto Sans Mono CJK SC"/>
              </a:rPr>
              <a:t>doorbell</a:t>
            </a:r>
            <a:endParaRPr b="1" lang="en-US" sz="1100" spc="-1" strike="noStrike">
              <a:solidFill>
                <a:srgbClr val="243b53"/>
              </a:solidFill>
              <a:latin typeface="Noto Sans Mono CJK SC"/>
            </a:endParaRPr>
          </a:p>
          <a:p>
            <a:pPr algn="ctr"/>
            <a:r>
              <a:rPr b="1" lang="en-US" sz="1100" spc="-1" strike="noStrike">
                <a:solidFill>
                  <a:srgbClr val="243b53"/>
                </a:solidFill>
                <a:latin typeface="Noto Sans Mono CJK SC"/>
              </a:rPr>
              <a:t>RTS</a:t>
            </a:r>
            <a:endParaRPr b="1" lang="en-US" sz="1100" spc="-1" strike="noStrike">
              <a:solidFill>
                <a:srgbClr val="243b53"/>
              </a:solidFill>
              <a:latin typeface="Noto Sans Mono CJK SC"/>
            </a:endParaRPr>
          </a:p>
        </p:txBody>
      </p:sp>
      <p:sp>
        <p:nvSpPr>
          <p:cNvPr id="718" name=""/>
          <p:cNvSpPr/>
          <p:nvPr/>
        </p:nvSpPr>
        <p:spPr>
          <a:xfrm>
            <a:off x="9324000" y="3006000"/>
            <a:ext cx="792000" cy="486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1100" spc="-1" strike="noStrike">
                <a:solidFill>
                  <a:srgbClr val="243b53"/>
                </a:solidFill>
                <a:latin typeface="Noto Sans Mono CJK SC"/>
              </a:rPr>
              <a:t>wire</a:t>
            </a:r>
            <a:endParaRPr b="1" lang="en-US" sz="1100" spc="-1" strike="noStrike">
              <a:solidFill>
                <a:srgbClr val="243b53"/>
              </a:solidFill>
              <a:latin typeface="Noto Sans Mono CJK SC"/>
            </a:endParaRPr>
          </a:p>
          <a:p>
            <a:pPr algn="ctr"/>
            <a:r>
              <a:rPr b="1" lang="en-US" sz="1100" spc="-1" strike="noStrike">
                <a:solidFill>
                  <a:srgbClr val="243b53"/>
                </a:solidFill>
                <a:latin typeface="Noto Sans Mono CJK SC"/>
              </a:rPr>
              <a:t>ACK/CQE</a:t>
            </a:r>
            <a:endParaRPr b="1" lang="en-US" sz="1100" spc="-1" strike="noStrike">
              <a:solidFill>
                <a:srgbClr val="243b53"/>
              </a:solidFill>
              <a:latin typeface="Noto Sans Mono CJK SC"/>
            </a:endParaRPr>
          </a:p>
        </p:txBody>
      </p:sp>
      <p:sp>
        <p:nvSpPr>
          <p:cNvPr id="719" name=""/>
          <p:cNvSpPr/>
          <p:nvPr/>
        </p:nvSpPr>
        <p:spPr>
          <a:xfrm>
            <a:off x="450000" y="4032000"/>
            <a:ext cx="11268000" cy="666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真实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DUT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时，模型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TX frame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经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rdma_dut_link endpoint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出站；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DUT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入站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frame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解码后才进入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checker/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观察路径。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1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11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调试与检查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722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调试时应该观察哪些对象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23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724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35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725" name=""/>
          <p:cNvSpPr/>
          <p:nvPr/>
        </p:nvSpPr>
        <p:spPr>
          <a:xfrm>
            <a:off x="360000" y="738000"/>
            <a:ext cx="382788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阶段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26" name=""/>
          <p:cNvSpPr/>
          <p:nvPr/>
        </p:nvSpPr>
        <p:spPr>
          <a:xfrm>
            <a:off x="4187880" y="738000"/>
            <a:ext cx="382788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首要观察点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27" name=""/>
          <p:cNvSpPr/>
          <p:nvPr/>
        </p:nvSpPr>
        <p:spPr>
          <a:xfrm>
            <a:off x="8015760" y="738000"/>
            <a:ext cx="382824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异常定位线索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28" name=""/>
          <p:cNvSpPr/>
          <p:nvPr/>
        </p:nvSpPr>
        <p:spPr>
          <a:xfrm>
            <a:off x="360000" y="1224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create_qp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29" name=""/>
          <p:cNvSpPr/>
          <p:nvPr/>
        </p:nvSpPr>
        <p:spPr>
          <a:xfrm>
            <a:off x="4187880" y="1224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qpn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qp_sn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sq_depth/rq_depth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side_bufs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30" name=""/>
          <p:cNvSpPr/>
          <p:nvPr/>
        </p:nvSpPr>
        <p:spPr>
          <a:xfrm>
            <a:off x="8015760" y="1224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资源不足、深度取整、回滚是否完整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31" name=""/>
          <p:cNvSpPr/>
          <p:nvPr/>
        </p:nvSpPr>
        <p:spPr>
          <a:xfrm>
            <a:off x="360000" y="1710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QPC_CREATE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32" name=""/>
          <p:cNvSpPr/>
          <p:nvPr/>
        </p:nvSpPr>
        <p:spPr>
          <a:xfrm>
            <a:off x="4187880" y="1710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 512B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QPC_ST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SQ/RQ PBA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shadow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33" name=""/>
          <p:cNvSpPr/>
          <p:nvPr/>
        </p:nvSpPr>
        <p:spPr>
          <a:xfrm>
            <a:off x="8015760" y="1710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签名、对齐、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service type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、重叠字段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34" name=""/>
          <p:cNvSpPr/>
          <p:nvPr/>
        </p:nvSpPr>
        <p:spPr>
          <a:xfrm>
            <a:off x="360000" y="2196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modify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35" name=""/>
          <p:cNvSpPr/>
          <p:nvPr/>
        </p:nvSpPr>
        <p:spPr>
          <a:xfrm>
            <a:off x="4187880" y="2196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attr.mask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full/partial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QPC_ST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36" name=""/>
          <p:cNvSpPr/>
          <p:nvPr/>
        </p:nvSpPr>
        <p:spPr>
          <a:xfrm>
            <a:off x="8015760" y="2196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非法迁移或字段未写入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37" name=""/>
          <p:cNvSpPr/>
          <p:nvPr/>
        </p:nvSpPr>
        <p:spPr>
          <a:xfrm>
            <a:off x="360000" y="2682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post_send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38" name=""/>
          <p:cNvSpPr/>
          <p:nvPr/>
        </p:nvSpPr>
        <p:spPr>
          <a:xfrm>
            <a:off x="4187880" y="2682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sq_head/tail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WQE valid/wrap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SGB slot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39" name=""/>
          <p:cNvSpPr/>
          <p:nvPr/>
        </p:nvSpPr>
        <p:spPr>
          <a:xfrm>
            <a:off x="8015760" y="2682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QUEUE_FULL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、签名、门铃节流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40" name=""/>
          <p:cNvSpPr/>
          <p:nvPr/>
        </p:nvSpPr>
        <p:spPr>
          <a:xfrm>
            <a:off x="360000" y="3168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device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41" name=""/>
          <p:cNvSpPr/>
          <p:nvPr/>
        </p:nvSpPr>
        <p:spPr>
          <a:xfrm>
            <a:off x="4187880" y="3168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state_drops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qkey_drops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PSN/NAK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runtime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42" name=""/>
          <p:cNvSpPr/>
          <p:nvPr/>
        </p:nvSpPr>
        <p:spPr>
          <a:xfrm>
            <a:off x="8015760" y="3168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状态准入、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读取、协议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epoch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43" name=""/>
          <p:cNvSpPr/>
          <p:nvPr/>
        </p:nvSpPr>
        <p:spPr>
          <a:xfrm>
            <a:off x="360000" y="3654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completion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44" name=""/>
          <p:cNvSpPr/>
          <p:nvPr/>
        </p:nvSpPr>
        <p:spPr>
          <a:xfrm>
            <a:off x="4187880" y="3654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CQE ecode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WQE index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WC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状态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45" name=""/>
          <p:cNvSpPr/>
          <p:nvPr/>
        </p:nvSpPr>
        <p:spPr>
          <a:xfrm>
            <a:off x="8015760" y="3654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flush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、远端错误、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CQ shadow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46" name=""/>
          <p:cNvSpPr/>
          <p:nvPr/>
        </p:nvSpPr>
        <p:spPr>
          <a:xfrm>
            <a:off x="414000" y="5580000"/>
            <a:ext cx="11376000" cy="432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建议先查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QPC image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，再查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doorbell/WQE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，最后查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frame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；不要从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wire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反推所有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内部状态。</a:t>
            </a:r>
            <a:endParaRPr b="1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8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12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边界与路线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749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当前实现边界：哪些已经贯通，哪些仍需补齐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50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751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36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752" name=""/>
          <p:cNvSpPr/>
          <p:nvPr/>
        </p:nvSpPr>
        <p:spPr>
          <a:xfrm>
            <a:off x="360000" y="738000"/>
            <a:ext cx="5490000" cy="198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700" spc="-1" strike="noStrike">
                <a:solidFill>
                  <a:srgbClr val="ffffff"/>
                </a:solidFill>
                <a:latin typeface="Noto Sans CJK SC"/>
              </a:rPr>
              <a:t>已经具备</a:t>
            </a:r>
            <a:endParaRPr b="1" lang="en-US" sz="17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53" name=""/>
          <p:cNvSpPr/>
          <p:nvPr/>
        </p:nvSpPr>
        <p:spPr>
          <a:xfrm>
            <a:off x="6336000" y="738000"/>
            <a:ext cx="5490000" cy="198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700" spc="-1" strike="noStrike">
                <a:solidFill>
                  <a:srgbClr val="ffffff"/>
                </a:solidFill>
                <a:latin typeface="Noto Sans CJK SC"/>
              </a:rPr>
              <a:t>仍需补齐</a:t>
            </a:r>
            <a:endParaRPr b="1" lang="en-US" sz="17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54" name=""/>
          <p:cNvSpPr/>
          <p:nvPr/>
        </p:nvSpPr>
        <p:spPr>
          <a:xfrm>
            <a:off x="360000" y="954000"/>
            <a:ext cx="5490000" cy="29700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"/>
          <p:cNvSpPr/>
          <p:nvPr/>
        </p:nvSpPr>
        <p:spPr>
          <a:xfrm>
            <a:off x="360000" y="954000"/>
            <a:ext cx="50400" cy="2970000"/>
          </a:xfrm>
          <a:prstGeom prst="rect">
            <a:avLst/>
          </a:prstGeom>
          <a:solidFill>
            <a:srgbClr val="1565c0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6" name=""/>
          <p:cNvSpPr/>
          <p:nvPr/>
        </p:nvSpPr>
        <p:spPr>
          <a:xfrm>
            <a:off x="442800" y="982800"/>
            <a:ext cx="5367600" cy="2912400"/>
          </a:xfrm>
          <a:prstGeom prst="rect">
            <a:avLst/>
          </a:prstGeom>
          <a:solidFill>
            <a:srgbClr val="e3f2fd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driver-shaped create/modify/destroy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与设备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QPC context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RC/UD/URC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的主要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SQ/RQ/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完成路径。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QPC snapshot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netpacket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一致性和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DUT link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抽象。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字段矩阵和重叠区域文档。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57" name=""/>
          <p:cNvSpPr/>
          <p:nvPr/>
        </p:nvSpPr>
        <p:spPr>
          <a:xfrm>
            <a:off x="6336000" y="954000"/>
            <a:ext cx="5490000" cy="2970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"/>
          <p:cNvSpPr/>
          <p:nvPr/>
        </p:nvSpPr>
        <p:spPr>
          <a:xfrm>
            <a:off x="6336000" y="954000"/>
            <a:ext cx="50400" cy="2970000"/>
          </a:xfrm>
          <a:prstGeom prst="rect">
            <a:avLst/>
          </a:prstGeom>
          <a:solidFill>
            <a:srgbClr val="00897b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9" name=""/>
          <p:cNvSpPr/>
          <p:nvPr/>
        </p:nvSpPr>
        <p:spPr>
          <a:xfrm>
            <a:off x="6418800" y="982800"/>
            <a:ext cx="5367600" cy="29124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QPC 512B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全字段逐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bit golden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闭环。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IPv6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、完整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VLAN/tunnel/FWD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和全部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wire opcode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真实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TAP/VPI/VIP/DUT endpoint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  <a:p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•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SD/VLD/PBA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组合穷举与最新 </a:t>
            </a:r>
            <a:r>
              <a:rPr b="0" lang="en-US" sz="1500" spc="-1" strike="noStrike">
                <a:solidFill>
                  <a:srgbClr val="243b53"/>
                </a:solidFill>
                <a:latin typeface="Noto Sans CJK SC"/>
              </a:rPr>
              <a:t>VCS 53 </a:t>
            </a:r>
            <a:r>
              <a:rPr b="0" lang="zh-CN" sz="1500" spc="-1" strike="noStrike">
                <a:solidFill>
                  <a:srgbClr val="243b53"/>
                </a:solidFill>
                <a:latin typeface="Noto Sans CJK SC"/>
              </a:rPr>
              <a:t>回归。</a:t>
            </a:r>
            <a:endParaRPr b="0" lang="en-US" sz="15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60" name=""/>
          <p:cNvSpPr/>
          <p:nvPr/>
        </p:nvSpPr>
        <p:spPr>
          <a:xfrm>
            <a:off x="396000" y="4320000"/>
            <a:ext cx="11340000" cy="756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当前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PPT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解释的是模型真实已实现路径；未实现项会明确标注，不把抽象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endpoint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当成真实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DUT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2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13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代码索引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763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代码索引：讲解时从哪里跳转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64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765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37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766" name=""/>
          <p:cNvSpPr/>
          <p:nvPr/>
        </p:nvSpPr>
        <p:spPr>
          <a:xfrm>
            <a:off x="360000" y="738000"/>
            <a:ext cx="382788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主题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67" name=""/>
          <p:cNvSpPr/>
          <p:nvPr/>
        </p:nvSpPr>
        <p:spPr>
          <a:xfrm>
            <a:off x="4187880" y="738000"/>
            <a:ext cx="382788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文件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68" name=""/>
          <p:cNvSpPr/>
          <p:nvPr/>
        </p:nvSpPr>
        <p:spPr>
          <a:xfrm>
            <a:off x="8015760" y="738000"/>
            <a:ext cx="3828240" cy="48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入口</a:t>
            </a:r>
            <a:r>
              <a:rPr b="1" lang="en-US" sz="1200" spc="-1" strike="noStrike">
                <a:solidFill>
                  <a:srgbClr val="ffffff"/>
                </a:solidFill>
                <a:latin typeface="Noto Sans CJK SC"/>
              </a:rPr>
              <a:t>/</a:t>
            </a:r>
            <a:r>
              <a:rPr b="1" lang="zh-CN" sz="1200" spc="-1" strike="noStrike">
                <a:solidFill>
                  <a:srgbClr val="ffffff"/>
                </a:solidFill>
                <a:latin typeface="Noto Sans CJK SC"/>
              </a:rPr>
              <a:t>观察函数</a:t>
            </a:r>
            <a:endParaRPr b="1" lang="en-US" sz="12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69" name=""/>
          <p:cNvSpPr/>
          <p:nvPr/>
        </p:nvSpPr>
        <p:spPr>
          <a:xfrm>
            <a:off x="360000" y="1224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QP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状态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/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资源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70" name=""/>
          <p:cNvSpPr/>
          <p:nvPr/>
        </p:nvSpPr>
        <p:spPr>
          <a:xfrm>
            <a:off x="4187880" y="1224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src/drv/rdma_drv_qp.sv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71" name=""/>
          <p:cNvSpPr/>
          <p:nvPr/>
        </p:nvSpPr>
        <p:spPr>
          <a:xfrm>
            <a:off x="8015760" y="1224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create_qp / modify / transition_ok / destroy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72" name=""/>
          <p:cNvSpPr/>
          <p:nvPr/>
        </p:nvSpPr>
        <p:spPr>
          <a:xfrm>
            <a:off x="360000" y="1710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WQE/RQE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73" name=""/>
          <p:cNvSpPr/>
          <p:nvPr/>
        </p:nvSpPr>
        <p:spPr>
          <a:xfrm>
            <a:off x="4187880" y="1710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src/drv/rdma_drv_wr.sv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74" name=""/>
          <p:cNvSpPr/>
          <p:nvPr/>
        </p:nvSpPr>
        <p:spPr>
          <a:xfrm>
            <a:off x="8015760" y="1710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post_send / post_recv / poll_cq / notify_sq_db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75" name=""/>
          <p:cNvSpPr/>
          <p:nvPr/>
        </p:nvSpPr>
        <p:spPr>
          <a:xfrm>
            <a:off x="360000" y="2196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CMQ/QPC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存储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76" name=""/>
          <p:cNvSpPr/>
          <p:nvPr/>
        </p:nvSpPr>
        <p:spPr>
          <a:xfrm>
            <a:off x="4187880" y="2196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src/dev/rdma_dev_cmq.sv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77" name=""/>
          <p:cNvSpPr/>
          <p:nvPr/>
        </p:nvSpPr>
        <p:spPr>
          <a:xfrm>
            <a:off x="8015760" y="2196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execute_qp / qp_state / qpc_written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78" name=""/>
          <p:cNvSpPr/>
          <p:nvPr/>
        </p:nvSpPr>
        <p:spPr>
          <a:xfrm>
            <a:off x="360000" y="2682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NIC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数据面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79" name=""/>
          <p:cNvSpPr/>
          <p:nvPr/>
        </p:nvSpPr>
        <p:spPr>
          <a:xfrm>
            <a:off x="4187880" y="2682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src/dev/rdma_dev_nic.sv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80" name=""/>
          <p:cNvSpPr/>
          <p:nvPr/>
        </p:nvSpPr>
        <p:spPr>
          <a:xfrm>
            <a:off x="8015760" y="2682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drain_sq / handle_request / enter_error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81" name=""/>
          <p:cNvSpPr/>
          <p:nvPr/>
        </p:nvSpPr>
        <p:spPr>
          <a:xfrm>
            <a:off x="360000" y="3168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控制流程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82" name=""/>
          <p:cNvSpPr/>
          <p:nvPr/>
        </p:nvSpPr>
        <p:spPr>
          <a:xfrm>
            <a:off x="4187880" y="3168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src/tb/rdma_ctrl_agent.sv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83" name=""/>
          <p:cNvSpPr/>
          <p:nvPr/>
        </p:nvSpPr>
        <p:spPr>
          <a:xfrm>
            <a:off x="8015760" y="3168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connect_pair / modify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84" name=""/>
          <p:cNvSpPr/>
          <p:nvPr/>
        </p:nvSpPr>
        <p:spPr>
          <a:xfrm>
            <a:off x="360000" y="3654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wire/DUT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85" name=""/>
          <p:cNvSpPr/>
          <p:nvPr/>
        </p:nvSpPr>
        <p:spPr>
          <a:xfrm>
            <a:off x="4187880" y="3654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src/adapters/net_packet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src/tb/rdma_dut_link.sv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86" name=""/>
          <p:cNvSpPr/>
          <p:nvPr/>
        </p:nvSpPr>
        <p:spPr>
          <a:xfrm>
            <a:off x="8015760" y="3654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encode/decode / endpoint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87" name=""/>
          <p:cNvSpPr/>
          <p:nvPr/>
        </p:nvSpPr>
        <p:spPr>
          <a:xfrm>
            <a:off x="360000" y="4140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字段矩阵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88" name=""/>
          <p:cNvSpPr/>
          <p:nvPr/>
        </p:nvSpPr>
        <p:spPr>
          <a:xfrm>
            <a:off x="4187880" y="4140000"/>
            <a:ext cx="382788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docs/rdma_qpc_field_matrix.xlsx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89" name=""/>
          <p:cNvSpPr/>
          <p:nvPr/>
        </p:nvSpPr>
        <p:spPr>
          <a:xfrm>
            <a:off x="8015760" y="4140000"/>
            <a:ext cx="3828240" cy="486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逐 </a:t>
            </a:r>
            <a:r>
              <a:rPr b="0" lang="en-US" sz="1200" spc="-1" strike="noStrike">
                <a:solidFill>
                  <a:srgbClr val="243b53"/>
                </a:solidFill>
                <a:latin typeface="Noto Sans CJK SC"/>
              </a:rPr>
              <a:t>qword/bit/RC-UD-URC </a:t>
            </a:r>
            <a:r>
              <a:rPr b="0" lang="zh-CN" sz="1200" spc="-1" strike="noStrike">
                <a:solidFill>
                  <a:srgbClr val="243b53"/>
                </a:solidFill>
                <a:latin typeface="Noto Sans CJK SC"/>
              </a:rPr>
              <a:t>重叠说明</a:t>
            </a:r>
            <a:endParaRPr b="0" lang="en-US" sz="12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90" name=""/>
          <p:cNvSpPr/>
          <p:nvPr/>
        </p:nvSpPr>
        <p:spPr>
          <a:xfrm>
            <a:off x="414000" y="5580000"/>
            <a:ext cx="11376000" cy="432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建议按本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PPT 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顺序打开文件：先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drv_qp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，再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drv_wr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，再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dev_cmq/dev_nic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，最后看 </a:t>
            </a:r>
            <a:r>
              <a:rPr b="1" lang="en-US" sz="1400" spc="-1" strike="noStrike">
                <a:solidFill>
                  <a:srgbClr val="243b53"/>
                </a:solidFill>
                <a:latin typeface="Noto Sans CJK SC"/>
              </a:rPr>
              <a:t>codec/link</a:t>
            </a:r>
            <a:r>
              <a:rPr b="1" lang="zh-CN" sz="1400" spc="-1" strike="noStrike">
                <a:solidFill>
                  <a:srgbClr val="243b53"/>
                </a:solidFill>
                <a:latin typeface="Noto Sans CJK SC"/>
              </a:rPr>
              <a:t>。</a:t>
            </a:r>
            <a:endParaRPr b="1" lang="en-US" sz="14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"/>
          <p:cNvSpPr/>
          <p:nvPr/>
        </p:nvSpPr>
        <p:spPr>
          <a:xfrm>
            <a:off x="0" y="0"/>
            <a:ext cx="12192120" cy="522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2" name=""/>
          <p:cNvSpPr/>
          <p:nvPr/>
        </p:nvSpPr>
        <p:spPr>
          <a:xfrm>
            <a:off x="324000" y="57600"/>
            <a:ext cx="1836000" cy="1872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en-US" sz="1100" spc="-1" strike="noStrike">
                <a:solidFill>
                  <a:srgbClr val="9fb3c8"/>
                </a:solidFill>
                <a:latin typeface="Noto Sans CJK SC"/>
              </a:rPr>
              <a:t>14 · </a:t>
            </a:r>
            <a:r>
              <a:rPr b="1" lang="zh-CN" sz="1100" spc="-1" strike="noStrike">
                <a:solidFill>
                  <a:srgbClr val="9fb3c8"/>
                </a:solidFill>
                <a:latin typeface="Noto Sans CJK SC"/>
              </a:rPr>
              <a:t>总结</a:t>
            </a:r>
            <a:endParaRPr b="1" lang="en-US" sz="1100" spc="-1" strike="noStrike">
              <a:solidFill>
                <a:srgbClr val="9fb3c8"/>
              </a:solidFill>
              <a:latin typeface="Noto Sans CJK SC"/>
            </a:endParaRPr>
          </a:p>
        </p:txBody>
      </p:sp>
      <p:sp>
        <p:nvSpPr>
          <p:cNvPr id="793" name=""/>
          <p:cNvSpPr/>
          <p:nvPr/>
        </p:nvSpPr>
        <p:spPr>
          <a:xfrm>
            <a:off x="324000" y="212400"/>
            <a:ext cx="11472120" cy="2736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一句话总结：</a:t>
            </a:r>
            <a:r>
              <a:rPr b="1" lang="en-US" sz="2500" spc="-1" strike="noStrike">
                <a:solidFill>
                  <a:srgbClr val="ffffff"/>
                </a:solidFill>
                <a:latin typeface="Noto Sans CJK SC"/>
              </a:rPr>
              <a:t>QPC </a:t>
            </a:r>
            <a:r>
              <a:rPr b="1" lang="zh-CN" sz="2500" spc="-1" strike="noStrike">
                <a:solidFill>
                  <a:srgbClr val="ffffff"/>
                </a:solidFill>
                <a:latin typeface="Noto Sans CJK SC"/>
              </a:rPr>
              <a:t>是资源、状态和数据面的共同契约</a:t>
            </a:r>
            <a:endParaRPr b="1" lang="en-US" sz="2500" spc="-1" strike="noStrike">
              <a:solidFill>
                <a:srgbClr val="ffffff"/>
              </a:solidFill>
              <a:latin typeface="Noto Sans CJK SC"/>
            </a:endParaRPr>
          </a:p>
        </p:txBody>
      </p:sp>
      <p:sp>
        <p:nvSpPr>
          <p:cNvPr id="794" name=""/>
          <p:cNvSpPr/>
          <p:nvPr/>
        </p:nvSpPr>
        <p:spPr>
          <a:xfrm>
            <a:off x="324000" y="6634800"/>
            <a:ext cx="11544120" cy="1080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RDMA QPC </a:t>
            </a:r>
            <a:r>
              <a:rPr b="0" lang="zh-CN" sz="900" spc="-1" strike="noStrike">
                <a:solidFill>
                  <a:srgbClr val="52606d"/>
                </a:solidFill>
                <a:latin typeface="Noto Sans CJK SC"/>
              </a:rPr>
              <a:t>生命周期与数据路径手册  </a:t>
            </a:r>
            <a:r>
              <a:rPr b="0" lang="en-US" sz="900" spc="-1" strike="noStrike">
                <a:solidFill>
                  <a:srgbClr val="52606d"/>
                </a:solidFill>
                <a:latin typeface="Noto Sans CJK SC"/>
              </a:rPr>
              <a:t>·  feature/rdma-arch-slim</a:t>
            </a:r>
            <a:endParaRPr b="0" lang="en-US" sz="900" spc="-1" strike="noStrike">
              <a:solidFill>
                <a:srgbClr val="52606d"/>
              </a:solidFill>
              <a:latin typeface="Noto Sans CJK SC"/>
            </a:endParaRPr>
          </a:p>
        </p:txBody>
      </p:sp>
      <p:sp>
        <p:nvSpPr>
          <p:cNvPr id="795" name=""/>
          <p:cNvSpPr/>
          <p:nvPr/>
        </p:nvSpPr>
        <p:spPr>
          <a:xfrm>
            <a:off x="11472120" y="6624000"/>
            <a:ext cx="396000" cy="129600"/>
          </a:xfrm>
          <a:prstGeom prst="rect">
            <a:avLst/>
          </a:prstGeom>
          <a:solidFill>
            <a:srgbClr val="ffffff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pPr algn="ctr"/>
            <a:r>
              <a:rPr b="1" lang="en-US" sz="1100" spc="-1" strike="noStrike">
                <a:solidFill>
                  <a:srgbClr val="52606d"/>
                </a:solidFill>
                <a:latin typeface="Noto Sans Mono CJK SC"/>
              </a:rPr>
              <a:t>38</a:t>
            </a:r>
            <a:endParaRPr b="1" lang="en-US" sz="1100" spc="-1" strike="noStrike">
              <a:solidFill>
                <a:srgbClr val="52606d"/>
              </a:solidFill>
              <a:latin typeface="Noto Sans Mono CJK SC"/>
            </a:endParaRPr>
          </a:p>
        </p:txBody>
      </p:sp>
      <p:sp>
        <p:nvSpPr>
          <p:cNvPr id="796" name=""/>
          <p:cNvSpPr/>
          <p:nvPr/>
        </p:nvSpPr>
        <p:spPr>
          <a:xfrm>
            <a:off x="720000" y="1080000"/>
            <a:ext cx="10764000" cy="1476000"/>
          </a:xfrm>
          <a:prstGeom prst="rect">
            <a:avLst/>
          </a:prstGeom>
          <a:solidFill>
            <a:srgbClr val="102a43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en-US" sz="2000" spc="-1" strike="noStrike">
                <a:solidFill>
                  <a:srgbClr val="ffffff"/>
                </a:solidFill>
                <a:latin typeface="Noto Sans Mono CJK SC"/>
              </a:rPr>
              <a:t>QPC = </a:t>
            </a:r>
            <a:r>
              <a:rPr b="1" lang="zh-CN" sz="2000" spc="-1" strike="noStrike">
                <a:solidFill>
                  <a:srgbClr val="ffffff"/>
                </a:solidFill>
                <a:latin typeface="Noto Sans Mono CJK SC"/>
              </a:rPr>
              <a:t>资源身份</a:t>
            </a:r>
            <a:endParaRPr b="1" lang="en-US" sz="20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2000" spc="-1" strike="noStrike">
                <a:solidFill>
                  <a:srgbClr val="ffffff"/>
                </a:solidFill>
                <a:latin typeface="Noto Sans Mono CJK SC"/>
              </a:rPr>
              <a:t>       </a:t>
            </a:r>
            <a:r>
              <a:rPr b="1" lang="en-US" sz="2000" spc="-1" strike="noStrike">
                <a:solidFill>
                  <a:srgbClr val="ffffff"/>
                </a:solidFill>
                <a:latin typeface="Noto Sans Mono CJK SC"/>
              </a:rPr>
              <a:t>+ </a:t>
            </a:r>
            <a:r>
              <a:rPr b="1" lang="zh-CN" sz="2000" spc="-1" strike="noStrike">
                <a:solidFill>
                  <a:srgbClr val="ffffff"/>
                </a:solidFill>
                <a:latin typeface="Noto Sans Mono CJK SC"/>
              </a:rPr>
              <a:t>生命周期状态</a:t>
            </a:r>
            <a:endParaRPr b="1" lang="en-US" sz="20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2000" spc="-1" strike="noStrike">
                <a:solidFill>
                  <a:srgbClr val="ffffff"/>
                </a:solidFill>
                <a:latin typeface="Noto Sans Mono CJK SC"/>
              </a:rPr>
              <a:t>       </a:t>
            </a:r>
            <a:r>
              <a:rPr b="1" lang="en-US" sz="2000" spc="-1" strike="noStrike">
                <a:solidFill>
                  <a:srgbClr val="ffffff"/>
                </a:solidFill>
                <a:latin typeface="Noto Sans Mono CJK SC"/>
              </a:rPr>
              <a:t>+ </a:t>
            </a:r>
            <a:r>
              <a:rPr b="1" lang="zh-CN" sz="2000" spc="-1" strike="noStrike">
                <a:solidFill>
                  <a:srgbClr val="ffffff"/>
                </a:solidFill>
                <a:latin typeface="Noto Sans Mono CJK SC"/>
              </a:rPr>
              <a:t>队列 </a:t>
            </a:r>
            <a:r>
              <a:rPr b="1" lang="en-US" sz="2000" spc="-1" strike="noStrike">
                <a:solidFill>
                  <a:srgbClr val="ffffff"/>
                </a:solidFill>
                <a:latin typeface="Noto Sans Mono CJK SC"/>
              </a:rPr>
              <a:t>backing</a:t>
            </a:r>
            <a:endParaRPr b="1" lang="en-US" sz="20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2000" spc="-1" strike="noStrike">
                <a:solidFill>
                  <a:srgbClr val="ffffff"/>
                </a:solidFill>
                <a:latin typeface="Noto Sans Mono CJK SC"/>
              </a:rPr>
              <a:t>       </a:t>
            </a:r>
            <a:r>
              <a:rPr b="1" lang="en-US" sz="2000" spc="-1" strike="noStrike">
                <a:solidFill>
                  <a:srgbClr val="ffffff"/>
                </a:solidFill>
                <a:latin typeface="Noto Sans Mono CJK SC"/>
              </a:rPr>
              <a:t>+ </a:t>
            </a:r>
            <a:r>
              <a:rPr b="1" lang="zh-CN" sz="2000" spc="-1" strike="noStrike">
                <a:solidFill>
                  <a:srgbClr val="ffffff"/>
                </a:solidFill>
                <a:latin typeface="Noto Sans Mono CJK SC"/>
              </a:rPr>
              <a:t>协议运行态</a:t>
            </a:r>
            <a:endParaRPr b="1" lang="en-US" sz="2000" spc="-1" strike="noStrike">
              <a:solidFill>
                <a:srgbClr val="ffffff"/>
              </a:solidFill>
              <a:latin typeface="Noto Sans Mono CJK SC"/>
            </a:endParaRPr>
          </a:p>
          <a:p>
            <a:pPr algn="ctr"/>
            <a:r>
              <a:rPr b="1" lang="en-US" sz="2000" spc="-1" strike="noStrike">
                <a:solidFill>
                  <a:srgbClr val="ffffff"/>
                </a:solidFill>
                <a:latin typeface="Noto Sans Mono CJK SC"/>
              </a:rPr>
              <a:t>       </a:t>
            </a:r>
            <a:r>
              <a:rPr b="1" lang="en-US" sz="2000" spc="-1" strike="noStrike">
                <a:solidFill>
                  <a:srgbClr val="ffffff"/>
                </a:solidFill>
                <a:latin typeface="Noto Sans Mono CJK SC"/>
              </a:rPr>
              <a:t>+ </a:t>
            </a:r>
            <a:r>
              <a:rPr b="1" lang="zh-CN" sz="2000" spc="-1" strike="noStrike">
                <a:solidFill>
                  <a:srgbClr val="ffffff"/>
                </a:solidFill>
                <a:latin typeface="Noto Sans Mono CJK SC"/>
              </a:rPr>
              <a:t>设备 </a:t>
            </a:r>
            <a:r>
              <a:rPr b="1" lang="en-US" sz="2000" spc="-1" strike="noStrike">
                <a:solidFill>
                  <a:srgbClr val="ffffff"/>
                </a:solidFill>
                <a:latin typeface="Noto Sans Mono CJK SC"/>
              </a:rPr>
              <a:t>DMA </a:t>
            </a:r>
            <a:r>
              <a:rPr b="1" lang="zh-CN" sz="2000" spc="-1" strike="noStrike">
                <a:solidFill>
                  <a:srgbClr val="ffffff"/>
                </a:solidFill>
                <a:latin typeface="Noto Sans Mono CJK SC"/>
              </a:rPr>
              <a:t>契约</a:t>
            </a:r>
            <a:endParaRPr b="1" lang="en-US" sz="2000" spc="-1" strike="noStrike">
              <a:solidFill>
                <a:srgbClr val="ffffff"/>
              </a:solidFill>
              <a:latin typeface="Noto Sans Mono CJK SC"/>
            </a:endParaRPr>
          </a:p>
        </p:txBody>
      </p:sp>
      <p:sp>
        <p:nvSpPr>
          <p:cNvPr id="797" name=""/>
          <p:cNvSpPr/>
          <p:nvPr/>
        </p:nvSpPr>
        <p:spPr>
          <a:xfrm>
            <a:off x="828000" y="3384000"/>
            <a:ext cx="10548000" cy="756000"/>
          </a:xfrm>
          <a:prstGeom prst="rect">
            <a:avLst/>
          </a:prstGeom>
          <a:solidFill>
            <a:srgbClr val="e0f2f1"/>
          </a:solidFill>
          <a:ln w="7200">
            <a:noFill/>
          </a:ln>
        </p:spPr>
        <p:txBody>
          <a:bodyPr lIns="64800" rIns="64800" tIns="39600" bIns="39600" anchor="ctr" anchorCtr="1">
            <a:noAutofit/>
          </a:bodyPr>
          <a:p>
            <a:pPr algn="ctr"/>
            <a:r>
              <a:rPr b="1" lang="zh-CN" sz="1900" spc="-1" strike="noStrike">
                <a:solidFill>
                  <a:srgbClr val="243b53"/>
                </a:solidFill>
                <a:latin typeface="Noto Sans CJK SC"/>
              </a:rPr>
              <a:t>讲清楚 </a:t>
            </a:r>
            <a:r>
              <a:rPr b="1" lang="en-US" sz="1900" spc="-1" strike="noStrike">
                <a:solidFill>
                  <a:srgbClr val="243b53"/>
                </a:solidFill>
                <a:latin typeface="Noto Sans CJK SC"/>
              </a:rPr>
              <a:t>QPC</a:t>
            </a:r>
            <a:r>
              <a:rPr b="1" lang="zh-CN" sz="1900" spc="-1" strike="noStrike">
                <a:solidFill>
                  <a:srgbClr val="243b53"/>
                </a:solidFill>
                <a:latin typeface="Noto Sans CJK SC"/>
              </a:rPr>
              <a:t>，必须把 </a:t>
            </a:r>
            <a:r>
              <a:rPr b="1" lang="en-US" sz="1900" spc="-1" strike="noStrike">
                <a:solidFill>
                  <a:srgbClr val="243b53"/>
                </a:solidFill>
                <a:latin typeface="Noto Sans CJK SC"/>
              </a:rPr>
              <a:t>create</a:t>
            </a:r>
            <a:r>
              <a:rPr b="1" lang="zh-CN" sz="19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1" lang="en-US" sz="1900" spc="-1" strike="noStrike">
                <a:solidFill>
                  <a:srgbClr val="243b53"/>
                </a:solidFill>
                <a:latin typeface="Noto Sans CJK SC"/>
              </a:rPr>
              <a:t>modify</a:t>
            </a:r>
            <a:r>
              <a:rPr b="1" lang="zh-CN" sz="19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1" lang="en-US" sz="1900" spc="-1" strike="noStrike">
                <a:solidFill>
                  <a:srgbClr val="243b53"/>
                </a:solidFill>
                <a:latin typeface="Noto Sans CJK SC"/>
              </a:rPr>
              <a:t>WQE</a:t>
            </a:r>
            <a:r>
              <a:rPr b="1" lang="zh-CN" sz="19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1" lang="en-US" sz="1900" spc="-1" strike="noStrike">
                <a:solidFill>
                  <a:srgbClr val="243b53"/>
                </a:solidFill>
                <a:latin typeface="Noto Sans CJK SC"/>
              </a:rPr>
              <a:t>doorbell</a:t>
            </a:r>
            <a:r>
              <a:rPr b="1" lang="zh-CN" sz="1900" spc="-1" strike="noStrike">
                <a:solidFill>
                  <a:srgbClr val="243b53"/>
                </a:solidFill>
                <a:latin typeface="Noto Sans CJK SC"/>
              </a:rPr>
              <a:t>、</a:t>
            </a:r>
            <a:r>
              <a:rPr b="1" lang="en-US" sz="1900" spc="-1" strike="noStrike">
                <a:solidFill>
                  <a:srgbClr val="243b53"/>
                </a:solidFill>
                <a:latin typeface="Noto Sans CJK SC"/>
              </a:rPr>
              <a:t>device runtime</a:t>
            </a:r>
            <a:r>
              <a:rPr b="1" lang="zh-CN" sz="1900" spc="-1" strike="noStrike">
                <a:solidFill>
                  <a:srgbClr val="243b53"/>
                </a:solidFill>
                <a:latin typeface="Noto Sans CJK SC"/>
              </a:rPr>
              <a:t>、报文和 </a:t>
            </a:r>
            <a:r>
              <a:rPr b="1" lang="en-US" sz="1900" spc="-1" strike="noStrike">
                <a:solidFill>
                  <a:srgbClr val="243b53"/>
                </a:solidFill>
                <a:latin typeface="Noto Sans CJK SC"/>
              </a:rPr>
              <a:t>CQE </a:t>
            </a:r>
            <a:r>
              <a:rPr b="1" lang="zh-CN" sz="1900" spc="-1" strike="noStrike">
                <a:solidFill>
                  <a:srgbClr val="243b53"/>
                </a:solidFill>
                <a:latin typeface="Noto Sans CJK SC"/>
              </a:rPr>
              <a:t>串成一条链。</a:t>
            </a:r>
            <a:endParaRPr b="1" lang="en-US" sz="1900" spc="-1" strike="noStrike">
              <a:solidFill>
                <a:srgbClr val="243b53"/>
              </a:solidFill>
              <a:latin typeface="Noto Sans CJK SC"/>
            </a:endParaRPr>
          </a:p>
        </p:txBody>
      </p:sp>
      <p:sp>
        <p:nvSpPr>
          <p:cNvPr id="798" name=""/>
          <p:cNvSpPr/>
          <p:nvPr/>
        </p:nvSpPr>
        <p:spPr>
          <a:xfrm>
            <a:off x="540000" y="4680000"/>
            <a:ext cx="11088000" cy="468000"/>
          </a:xfrm>
          <a:prstGeom prst="rect">
            <a:avLst/>
          </a:prstGeom>
          <a:solidFill>
            <a:srgbClr val="fff3e0"/>
          </a:solidFill>
          <a:ln w="7200">
            <a:noFill/>
          </a:ln>
        </p:spPr>
        <p:txBody>
          <a:bodyPr lIns="64800" rIns="64800" tIns="39600" bIns="39600" anchor="t" anchorCtr="1">
            <a:noAutofit/>
          </a:bodyPr>
          <a:p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QPC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不是孤立的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512B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表，而是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driver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分配的资源身份、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QP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状态机、队列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backing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、协议运行态和设备 </a:t>
            </a:r>
            <a:r>
              <a:rPr b="1" lang="en-US" sz="1600" spc="-1" strike="noStrike">
                <a:solidFill>
                  <a:srgbClr val="243b53"/>
                </a:solidFill>
                <a:latin typeface="Noto Sans CJK SC"/>
              </a:rPr>
              <a:t>DMA </a:t>
            </a:r>
            <a:r>
              <a:rPr b="1" lang="zh-CN" sz="1600" spc="-1" strike="noStrike">
                <a:solidFill>
                  <a:srgbClr val="243b53"/>
                </a:solidFill>
                <a:latin typeface="Noto Sans CJK SC"/>
              </a:rPr>
              <a:t>的交汇点。</a:t>
            </a:r>
            <a:endParaRPr b="1" lang="en-US" sz="1600" spc="-1" strike="noStrike">
              <a:solidFill>
                <a:srgbClr val="243b53"/>
              </a:solidFill>
              <a:latin typeface="Noto Sans CJK SC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2026-10-13T22:48:41Z</dcterms:created>
  <dc:creator/>
  <dc:description/>
  <dc:language>en-US</dc:language>
  <cp:lastModifiedBy/>
  <dcterms:modified xsi:type="dcterms:W3CDTF">2026-10-13T22:48:57Z</dcterms:modified>
  <cp:revision>1</cp:revision>
  <dc:subject/>
  <dc:title/>
</cp:coreProperties>
</file>